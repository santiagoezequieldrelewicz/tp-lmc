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58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8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3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41.svg"/><Relationship Id="rId5" Type="http://schemas.openxmlformats.org/officeDocument/2006/relationships/image" Target="../media/image36.svg"/><Relationship Id="rId10" Type="http://schemas.openxmlformats.org/officeDocument/2006/relationships/image" Target="../media/image40.svg"/><Relationship Id="rId4" Type="http://schemas.openxmlformats.org/officeDocument/2006/relationships/image" Target="../media/image35.svg"/><Relationship Id="rId9" Type="http://schemas.openxmlformats.org/officeDocument/2006/relationships/image" Target="../media/image33.svg"/><Relationship Id="rId1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51.svg"/><Relationship Id="rId3" Type="http://schemas.openxmlformats.org/officeDocument/2006/relationships/image" Target="../media/image44.svg"/><Relationship Id="rId7" Type="http://schemas.openxmlformats.org/officeDocument/2006/relationships/image" Target="../media/image42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11" Type="http://schemas.openxmlformats.org/officeDocument/2006/relationships/image" Target="../media/image50.svg"/><Relationship Id="rId5" Type="http://schemas.openxmlformats.org/officeDocument/2006/relationships/image" Target="../media/image46.svg"/><Relationship Id="rId10" Type="http://schemas.openxmlformats.org/officeDocument/2006/relationships/image" Target="../media/image49.svg"/><Relationship Id="rId4" Type="http://schemas.openxmlformats.org/officeDocument/2006/relationships/image" Target="../media/image45.sv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ackground">
            <a:extLst>
              <a:ext uri="{FF2B5EF4-FFF2-40B4-BE49-F238E27FC236}">
                <a16:creationId xmlns:a16="http://schemas.microsoft.com/office/drawing/2014/main" id="{88E63CA8-1034-4EE2-884E-AF80849791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000179C2-0C7D-4031-9B30-98F72815B2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3731419-A7AE-44D4-9AA2-10C8D7C011E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2476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PROBLEMA DE INVESTIGACIÓN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0A08DE2F-6C35-4E83-8F0A-8C6F88CFCA6B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316C7E0-4B60-4958-A206-C504B7C6273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8763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30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¿Cuánto explican HDD y CDD</a:t>
            </a:r>
          </a:p>
          <a:p>
            <a:pPr algn="l">
              <a:defRPr sz="30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del consumo energético?</a:t>
            </a:r>
          </a:p>
        </p:txBody>
      </p:sp>
      <p:sp>
        <p:nvSpPr>
          <p:cNvPr id="6" name="context-panel">
            <a:extLst>
              <a:ext uri="{FF2B5EF4-FFF2-40B4-BE49-F238E27FC236}">
                <a16:creationId xmlns:a16="http://schemas.microsoft.com/office/drawing/2014/main" id="{B68BB998-B4C2-4A76-94EA-9CDF547B266F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47625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143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7" name="context-heading">
            <a:extLst>
              <a:ext uri="{FF2B5EF4-FFF2-40B4-BE49-F238E27FC236}">
                <a16:creationId xmlns:a16="http://schemas.microsoft.com/office/drawing/2014/main" id="{67540D78-360E-48D8-B14F-B7E9BE25B252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90525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El punto de partida</a:t>
            </a:r>
          </a:p>
        </p:txBody>
      </p:sp>
      <p:sp>
        <p:nvSpPr>
          <p:cNvPr id="8" name="bullet-1-icon-bg">
            <a:extLst>
              <a:ext uri="{FF2B5EF4-FFF2-40B4-BE49-F238E27FC236}">
                <a16:creationId xmlns:a16="http://schemas.microsoft.com/office/drawing/2014/main" id="{1E4E32DF-36B5-4C79-9FFD-F500EB33DF76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514350" cy="51435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9150" y="2762250"/>
            <a:ext cx="247650" cy="247650"/>
          </a:xfrm>
          <a:prstGeom prst="rect">
            <a:avLst/>
          </a:prstGeom>
        </p:spPr>
      </p:pic>
      <p:sp>
        <p:nvSpPr>
          <p:cNvPr id="10" name="bullet-1-label">
            <a:extLst>
              <a:ext uri="{FF2B5EF4-FFF2-40B4-BE49-F238E27FC236}">
                <a16:creationId xmlns:a16="http://schemas.microsoft.com/office/drawing/2014/main" id="{EBFD9753-1858-45D7-BD04-BCD6C775159A}"/>
              </a:ext>
            </a:extLst>
          </p:cNvPr>
          <p:cNvSpPr>
            <a:spLocks noGrp="1"/>
          </p:cNvSpPr>
          <p:nvPr/>
        </p:nvSpPr>
        <p:spPr>
          <a:xfrm>
            <a:off x="1390650" y="2609850"/>
            <a:ext cx="3048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11" name="bullet-1-text">
            <a:extLst>
              <a:ext uri="{FF2B5EF4-FFF2-40B4-BE49-F238E27FC236}">
                <a16:creationId xmlns:a16="http://schemas.microsoft.com/office/drawing/2014/main" id="{CACD49F7-DB00-4C5D-9652-1107A928423A}"/>
              </a:ext>
            </a:extLst>
          </p:cNvPr>
          <p:cNvSpPr>
            <a:spLocks noGrp="1"/>
          </p:cNvSpPr>
          <p:nvPr/>
        </p:nvSpPr>
        <p:spPr>
          <a:xfrm>
            <a:off x="1390650" y="2819400"/>
            <a:ext cx="3143250" cy="5143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Explicar y estimar el consumo mensual de clientes T1.</a:t>
            </a:r>
          </a:p>
        </p:txBody>
      </p:sp>
      <p:sp>
        <p:nvSpPr>
          <p:cNvPr id="12" name="bullet-2-icon-bg">
            <a:extLst>
              <a:ext uri="{FF2B5EF4-FFF2-40B4-BE49-F238E27FC236}">
                <a16:creationId xmlns:a16="http://schemas.microsoft.com/office/drawing/2014/main" id="{63134803-8ECD-49B1-A6E8-5ECE60CF2121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514350" cy="51435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3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19150" y="3714750"/>
            <a:ext cx="247650" cy="247650"/>
          </a:xfrm>
          <a:prstGeom prst="rect">
            <a:avLst/>
          </a:prstGeom>
        </p:spPr>
      </p:pic>
      <p:sp>
        <p:nvSpPr>
          <p:cNvPr id="14" name="bullet-2-label">
            <a:extLst>
              <a:ext uri="{FF2B5EF4-FFF2-40B4-BE49-F238E27FC236}">
                <a16:creationId xmlns:a16="http://schemas.microsoft.com/office/drawing/2014/main" id="{5D9C1CBB-1E9E-4930-BDCB-6A3053C01FD0}"/>
              </a:ext>
            </a:extLst>
          </p:cNvPr>
          <p:cNvSpPr>
            <a:spLocks noGrp="1"/>
          </p:cNvSpPr>
          <p:nvPr/>
        </p:nvSpPr>
        <p:spPr>
          <a:xfrm>
            <a:off x="1390650" y="3562350"/>
            <a:ext cx="3048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VARIABLES CLAVE</a:t>
            </a:r>
          </a:p>
        </p:txBody>
      </p:sp>
      <p:sp>
        <p:nvSpPr>
          <p:cNvPr id="15" name="bullet-2-text">
            <a:extLst>
              <a:ext uri="{FF2B5EF4-FFF2-40B4-BE49-F238E27FC236}">
                <a16:creationId xmlns:a16="http://schemas.microsoft.com/office/drawing/2014/main" id="{36049893-E646-42C8-B2DE-44E16241E2AD}"/>
              </a:ext>
            </a:extLst>
          </p:cNvPr>
          <p:cNvSpPr>
            <a:spLocks noGrp="1"/>
          </p:cNvSpPr>
          <p:nvPr/>
        </p:nvSpPr>
        <p:spPr>
          <a:xfrm>
            <a:off x="1390650" y="3771900"/>
            <a:ext cx="3143250" cy="5143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Desvíos térmicos respecto de una temperatura de confort.</a:t>
            </a:r>
          </a:p>
        </p:txBody>
      </p:sp>
      <p:sp>
        <p:nvSpPr>
          <p:cNvPr id="16" name="bullet-3-icon-bg">
            <a:extLst>
              <a:ext uri="{FF2B5EF4-FFF2-40B4-BE49-F238E27FC236}">
                <a16:creationId xmlns:a16="http://schemas.microsoft.com/office/drawing/2014/main" id="{2AC38DEA-6F90-4F15-96BF-D9C005DCD673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514350" cy="514350"/>
          </a:xfrm>
          <a:prstGeom prst="ellipse">
            <a:avLst/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9150" y="4667250"/>
            <a:ext cx="247650" cy="247650"/>
          </a:xfrm>
          <a:prstGeom prst="rect">
            <a:avLst/>
          </a:prstGeom>
        </p:spPr>
      </p:pic>
      <p:sp>
        <p:nvSpPr>
          <p:cNvPr id="18" name="bullet-3-label">
            <a:extLst>
              <a:ext uri="{FF2B5EF4-FFF2-40B4-BE49-F238E27FC236}">
                <a16:creationId xmlns:a16="http://schemas.microsoft.com/office/drawing/2014/main" id="{54C341D7-6BD0-482D-BA31-4F0330385643}"/>
              </a:ext>
            </a:extLst>
          </p:cNvPr>
          <p:cNvSpPr>
            <a:spLocks noGrp="1"/>
          </p:cNvSpPr>
          <p:nvPr/>
        </p:nvSpPr>
        <p:spPr>
          <a:xfrm>
            <a:off x="1390650" y="4514850"/>
            <a:ext cx="3048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E59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9A2F"/>
                </a:solidFill>
                <a:latin typeface="Aptos"/>
                <a:ea typeface="Aptos"/>
                <a:cs typeface="Aptos"/>
              </a:rPr>
              <a:t>PREGUNTA GUÍA</a:t>
            </a:r>
          </a:p>
        </p:txBody>
      </p:sp>
      <p:sp>
        <p:nvSpPr>
          <p:cNvPr id="19" name="bullet-3-text">
            <a:extLst>
              <a:ext uri="{FF2B5EF4-FFF2-40B4-BE49-F238E27FC236}">
                <a16:creationId xmlns:a16="http://schemas.microsoft.com/office/drawing/2014/main" id="{AD847951-C6BF-4786-9509-CBF49BFC79EA}"/>
              </a:ext>
            </a:extLst>
          </p:cNvPr>
          <p:cNvSpPr>
            <a:spLocks noGrp="1"/>
          </p:cNvSpPr>
          <p:nvPr/>
        </p:nvSpPr>
        <p:spPr>
          <a:xfrm>
            <a:off x="1390650" y="4724400"/>
            <a:ext cx="3143250" cy="5143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¿HDD y CDD alcanzan para predecir consumos futuros?</a:t>
            </a:r>
          </a:p>
        </p:txBody>
      </p:sp>
      <p:sp>
        <p:nvSpPr>
          <p:cNvPr id="20" name="flow-field">
            <a:extLst>
              <a:ext uri="{FF2B5EF4-FFF2-40B4-BE49-F238E27FC236}">
                <a16:creationId xmlns:a16="http://schemas.microsoft.com/office/drawing/2014/main" id="{0F138DE4-3770-41EA-BA65-EF17CEEEC4ED}"/>
              </a:ext>
            </a:extLst>
          </p:cNvPr>
          <p:cNvSpPr>
            <a:spLocks noGrp="1"/>
          </p:cNvSpPr>
          <p:nvPr/>
        </p:nvSpPr>
        <p:spPr>
          <a:xfrm>
            <a:off x="5600700" y="1885950"/>
            <a:ext cx="6191250" cy="3714750"/>
          </a:xfrm>
          <a:prstGeom prst="roundRect">
            <a:avLst>
              <a:gd name="adj" fmla="val 2051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1" name="flow-kicker">
            <a:extLst>
              <a:ext uri="{FF2B5EF4-FFF2-40B4-BE49-F238E27FC236}">
                <a16:creationId xmlns:a16="http://schemas.microsoft.com/office/drawing/2014/main" id="{8D7641F2-EDC7-4068-BD63-56D6692B282D}"/>
              </a:ext>
            </a:extLst>
          </p:cNvPr>
          <p:cNvSpPr>
            <a:spLocks noGrp="1"/>
          </p:cNvSpPr>
          <p:nvPr/>
        </p:nvSpPr>
        <p:spPr>
          <a:xfrm>
            <a:off x="5905500" y="2076450"/>
            <a:ext cx="5524500" cy="26670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HIPÓTESIS VISUAL DEL PROYECTO</a:t>
            </a:r>
          </a:p>
        </p:txBody>
      </p:sp>
      <p:sp>
        <p:nvSpPr>
          <p:cNvPr id="22" name="flow-node-1">
            <a:extLst>
              <a:ext uri="{FF2B5EF4-FFF2-40B4-BE49-F238E27FC236}">
                <a16:creationId xmlns:a16="http://schemas.microsoft.com/office/drawing/2014/main" id="{3EA77420-4EEF-4414-8A90-28911B582E3C}"/>
              </a:ext>
            </a:extLst>
          </p:cNvPr>
          <p:cNvSpPr>
            <a:spLocks noGrp="1"/>
          </p:cNvSpPr>
          <p:nvPr/>
        </p:nvSpPr>
        <p:spPr>
          <a:xfrm>
            <a:off x="7000875" y="2514600"/>
            <a:ext cx="3429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258050" y="2724150"/>
            <a:ext cx="323850" cy="323850"/>
          </a:xfrm>
          <a:prstGeom prst="rect">
            <a:avLst/>
          </a:prstGeom>
        </p:spPr>
      </p:pic>
      <p:sp>
        <p:nvSpPr>
          <p:cNvPr id="24" name="flow-node-1-label">
            <a:extLst>
              <a:ext uri="{FF2B5EF4-FFF2-40B4-BE49-F238E27FC236}">
                <a16:creationId xmlns:a16="http://schemas.microsoft.com/office/drawing/2014/main" id="{F0CD4A49-B59B-4BDB-9C24-2FD31BE1F885}"/>
              </a:ext>
            </a:extLst>
          </p:cNvPr>
          <p:cNvSpPr>
            <a:spLocks noGrp="1"/>
          </p:cNvSpPr>
          <p:nvPr/>
        </p:nvSpPr>
        <p:spPr>
          <a:xfrm>
            <a:off x="7810500" y="2609850"/>
            <a:ext cx="2333625" cy="295275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E5F9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5F91"/>
                </a:solidFill>
                <a:latin typeface="Aptos Display"/>
                <a:ea typeface="Aptos Display"/>
                <a:cs typeface="Aptos Display"/>
              </a:rPr>
              <a:t>Temperatura</a:t>
            </a:r>
          </a:p>
        </p:txBody>
      </p:sp>
      <p:sp>
        <p:nvSpPr>
          <p:cNvPr id="25" name="flow-node-1-sub">
            <a:extLst>
              <a:ext uri="{FF2B5EF4-FFF2-40B4-BE49-F238E27FC236}">
                <a16:creationId xmlns:a16="http://schemas.microsoft.com/office/drawing/2014/main" id="{6405008F-2FF8-4A9E-A9FA-7555649540F3}"/>
              </a:ext>
            </a:extLst>
          </p:cNvPr>
          <p:cNvSpPr>
            <a:spLocks noGrp="1"/>
          </p:cNvSpPr>
          <p:nvPr/>
        </p:nvSpPr>
        <p:spPr>
          <a:xfrm>
            <a:off x="7810500" y="2914650"/>
            <a:ext cx="2333625" cy="200025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Condiciones climáticas</a:t>
            </a:r>
          </a:p>
        </p:txBody>
      </p:sp>
      <p:sp>
        <p:nvSpPr>
          <p:cNvPr id="26" name="flow-node-2">
            <a:extLst>
              <a:ext uri="{FF2B5EF4-FFF2-40B4-BE49-F238E27FC236}">
                <a16:creationId xmlns:a16="http://schemas.microsoft.com/office/drawing/2014/main" id="{69678375-90F0-4849-B081-FD2246B81D72}"/>
              </a:ext>
            </a:extLst>
          </p:cNvPr>
          <p:cNvSpPr>
            <a:spLocks noGrp="1"/>
          </p:cNvSpPr>
          <p:nvPr/>
        </p:nvSpPr>
        <p:spPr>
          <a:xfrm>
            <a:off x="7000875" y="3562350"/>
            <a:ext cx="3429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258050" y="3771900"/>
            <a:ext cx="323850" cy="323850"/>
          </a:xfrm>
          <a:prstGeom prst="rect">
            <a:avLst/>
          </a:prstGeom>
        </p:spPr>
      </p:pic>
      <p:sp>
        <p:nvSpPr>
          <p:cNvPr id="28" name="flow-node-2-label">
            <a:extLst>
              <a:ext uri="{FF2B5EF4-FFF2-40B4-BE49-F238E27FC236}">
                <a16:creationId xmlns:a16="http://schemas.microsoft.com/office/drawing/2014/main" id="{1E2E5CB2-ADDC-4E1C-80B3-47D59B87D04D}"/>
              </a:ext>
            </a:extLst>
          </p:cNvPr>
          <p:cNvSpPr>
            <a:spLocks noGrp="1"/>
          </p:cNvSpPr>
          <p:nvPr/>
        </p:nvSpPr>
        <p:spPr>
          <a:xfrm>
            <a:off x="7810500" y="3657600"/>
            <a:ext cx="2333625" cy="295275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E5F9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5F91"/>
                </a:solidFill>
                <a:latin typeface="Aptos Display"/>
                <a:ea typeface="Aptos Display"/>
                <a:cs typeface="Aptos Display"/>
              </a:rPr>
              <a:t>HDD / CDD</a:t>
            </a:r>
          </a:p>
        </p:txBody>
      </p:sp>
      <p:sp>
        <p:nvSpPr>
          <p:cNvPr id="29" name="flow-node-2-sub">
            <a:extLst>
              <a:ext uri="{FF2B5EF4-FFF2-40B4-BE49-F238E27FC236}">
                <a16:creationId xmlns:a16="http://schemas.microsoft.com/office/drawing/2014/main" id="{B8FCD192-5B40-4DF5-AC9C-027C1B350FA4}"/>
              </a:ext>
            </a:extLst>
          </p:cNvPr>
          <p:cNvSpPr>
            <a:spLocks noGrp="1"/>
          </p:cNvSpPr>
          <p:nvPr/>
        </p:nvSpPr>
        <p:spPr>
          <a:xfrm>
            <a:off x="7810500" y="3962400"/>
            <a:ext cx="2333625" cy="200025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Desvíos respecto del confort</a:t>
            </a:r>
          </a:p>
        </p:txBody>
      </p:sp>
      <p:sp>
        <p:nvSpPr>
          <p:cNvPr id="30" name="flow-node-3">
            <a:extLst>
              <a:ext uri="{FF2B5EF4-FFF2-40B4-BE49-F238E27FC236}">
                <a16:creationId xmlns:a16="http://schemas.microsoft.com/office/drawing/2014/main" id="{98082E8F-8910-44C1-B127-6CE384374BCE}"/>
              </a:ext>
            </a:extLst>
          </p:cNvPr>
          <p:cNvSpPr>
            <a:spLocks noGrp="1"/>
          </p:cNvSpPr>
          <p:nvPr/>
        </p:nvSpPr>
        <p:spPr>
          <a:xfrm>
            <a:off x="7000875" y="4610100"/>
            <a:ext cx="3429000" cy="742950"/>
          </a:xfrm>
          <a:prstGeom prst="roundRect">
            <a:avLst>
              <a:gd name="adj" fmla="val 10256"/>
            </a:avLst>
          </a:prstGeom>
          <a:solidFill>
            <a:srgbClr val="16324F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258050" y="4819650"/>
            <a:ext cx="323850" cy="323850"/>
          </a:xfrm>
          <a:prstGeom prst="rect">
            <a:avLst/>
          </a:prstGeom>
        </p:spPr>
      </p:pic>
      <p:sp>
        <p:nvSpPr>
          <p:cNvPr id="32" name="flow-node-3-label">
            <a:extLst>
              <a:ext uri="{FF2B5EF4-FFF2-40B4-BE49-F238E27FC236}">
                <a16:creationId xmlns:a16="http://schemas.microsoft.com/office/drawing/2014/main" id="{1B8BC41C-A4FC-402C-B2FA-3CC2B4E66F7C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2333625" cy="295275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Consumo energético</a:t>
            </a:r>
          </a:p>
        </p:txBody>
      </p:sp>
      <p:sp>
        <p:nvSpPr>
          <p:cNvPr id="33" name="flow-node-3-sub">
            <a:extLst>
              <a:ext uri="{FF2B5EF4-FFF2-40B4-BE49-F238E27FC236}">
                <a16:creationId xmlns:a16="http://schemas.microsoft.com/office/drawing/2014/main" id="{3270137B-AADA-4EE5-9632-F699A0206C11}"/>
              </a:ext>
            </a:extLst>
          </p:cNvPr>
          <p:cNvSpPr>
            <a:spLocks noGrp="1"/>
          </p:cNvSpPr>
          <p:nvPr/>
        </p:nvSpPr>
        <p:spPr>
          <a:xfrm>
            <a:off x="7810500" y="5010150"/>
            <a:ext cx="2333625" cy="200025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D8EA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AF5"/>
                </a:solidFill>
                <a:latin typeface="Aptos"/>
                <a:ea typeface="Aptos"/>
                <a:cs typeface="Aptos"/>
              </a:rPr>
              <a:t>Demanda mensual de clientes T1</a:t>
            </a:r>
          </a:p>
        </p:txBody>
      </p:sp>
      <p:cxnSp>
        <p:nvCxnSpPr>
          <p:cNvPr id="34" name="flow-connector-1"/>
          <p:cNvCxnSpPr>
            <a:stCxn id="22" idx="2"/>
            <a:endCxn id="26" idx="0"/>
          </p:cNvCxnSpPr>
          <p:nvPr/>
        </p:nvCxnSpPr>
        <p:spPr>
          <a:xfrm>
            <a:off x="8715375" y="3257550"/>
            <a:ext cx="0" cy="304800"/>
          </a:xfrm>
          <a:prstGeom prst="straightConnector1">
            <a:avLst/>
          </a:prstGeom>
          <a:ln w="22860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35" name="flow-connector-2"/>
          <p:cNvCxnSpPr>
            <a:stCxn id="26" idx="2"/>
            <a:endCxn id="30" idx="0"/>
          </p:cNvCxnSpPr>
          <p:nvPr/>
        </p:nvCxnSpPr>
        <p:spPr>
          <a:xfrm>
            <a:off x="8715375" y="4305300"/>
            <a:ext cx="0" cy="304800"/>
          </a:xfrm>
          <a:prstGeom prst="straightConnector1">
            <a:avLst/>
          </a:prstGeom>
          <a:ln w="22860">
            <a:solidFill>
              <a:srgbClr val="2878B5"/>
            </a:solidFill>
            <a:prstDash val="solid"/>
            <a:tailEnd type="arrow" w="med" len="med"/>
          </a:ln>
        </p:spPr>
      </p:cxnSp>
      <p:sp>
        <p:nvSpPr>
          <p:cNvPr id="36" name="footer-rule">
            <a:extLst>
              <a:ext uri="{FF2B5EF4-FFF2-40B4-BE49-F238E27FC236}">
                <a16:creationId xmlns:a16="http://schemas.microsoft.com/office/drawing/2014/main" id="{2E992506-8CC0-4D66-9B00-B4610DE078C9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7" name="footer-question">
            <a:extLst>
              <a:ext uri="{FF2B5EF4-FFF2-40B4-BE49-F238E27FC236}">
                <a16:creationId xmlns:a16="http://schemas.microsoft.com/office/drawing/2014/main" id="{27151175-DF81-4F5F-A58F-73A1B4ADA216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952500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Pregunta central: ¿el clima alcanza para anticipar el consumo futuro?</a:t>
            </a:r>
          </a:p>
        </p:txBody>
      </p:sp>
      <p:sp>
        <p:nvSpPr>
          <p:cNvPr id="38" name="page-number">
            <a:extLst>
              <a:ext uri="{FF2B5EF4-FFF2-40B4-BE49-F238E27FC236}">
                <a16:creationId xmlns:a16="http://schemas.microsoft.com/office/drawing/2014/main" id="{A8806C24-C20F-47D5-9D9B-A75BED95FAF3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74295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204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ackground">
            <a:extLst>
              <a:ext uri="{FF2B5EF4-FFF2-40B4-BE49-F238E27FC236}">
                <a16:creationId xmlns:a16="http://schemas.microsoft.com/office/drawing/2014/main" id="{795507FF-E1A7-46C3-A94F-812E51A00F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AAF77DD0-B984-45D2-8989-D9DFC0AAE5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36B04FEB-CD4B-43FA-A688-06DA3C750744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42B671CA-72EA-4547-871A-9CF8C24894D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2857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DATOS E INTEGRACIÓN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94126EC6-5CCC-40BC-AC05-B2D1455100B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953750" cy="6096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Datos integrados para construir la base mensual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68AAE1-6412-4559-A1C6-1E8B953970AA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6667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Tres fuentes complementarias se transforman en una unidad mensual comparable.</a:t>
            </a:r>
          </a:p>
        </p:txBody>
      </p:sp>
      <p:sp>
        <p:nvSpPr>
          <p:cNvPr id="7" name="source-field">
            <a:extLst>
              <a:ext uri="{FF2B5EF4-FFF2-40B4-BE49-F238E27FC236}">
                <a16:creationId xmlns:a16="http://schemas.microsoft.com/office/drawing/2014/main" id="{422C0248-C3A3-45FE-BEE6-CE925FD7DDF7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11391900" cy="1657350"/>
          </a:xfrm>
          <a:prstGeom prst="roundRect">
            <a:avLst>
              <a:gd name="adj" fmla="val 4598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sources-label">
            <a:extLst>
              <a:ext uri="{FF2B5EF4-FFF2-40B4-BE49-F238E27FC236}">
                <a16:creationId xmlns:a16="http://schemas.microsoft.com/office/drawing/2014/main" id="{25C2E31A-39BA-48C6-82FE-47040FA7BBA3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714500" cy="2095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FUENTES DE INFORMACIÓN</a:t>
            </a:r>
          </a:p>
        </p:txBody>
      </p:sp>
      <p:sp>
        <p:nvSpPr>
          <p:cNvPr id="9" name="source-node-1">
            <a:extLst>
              <a:ext uri="{FF2B5EF4-FFF2-40B4-BE49-F238E27FC236}">
                <a16:creationId xmlns:a16="http://schemas.microsoft.com/office/drawing/2014/main" id="{45BE2D3E-DBC5-45EF-83F4-AD1C1EF62453}"/>
              </a:ext>
            </a:extLst>
          </p:cNvPr>
          <p:cNvSpPr>
            <a:spLocks noGrp="1"/>
          </p:cNvSpPr>
          <p:nvPr/>
        </p:nvSpPr>
        <p:spPr>
          <a:xfrm>
            <a:off x="647700" y="2343150"/>
            <a:ext cx="295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" name="source-icon-bg-1">
            <a:extLst>
              <a:ext uri="{FF2B5EF4-FFF2-40B4-BE49-F238E27FC236}">
                <a16:creationId xmlns:a16="http://schemas.microsoft.com/office/drawing/2014/main" id="{1C3EF77F-47B1-4E18-972B-F924031F0417}"/>
              </a:ext>
            </a:extLst>
          </p:cNvPr>
          <p:cNvSpPr>
            <a:spLocks noGrp="1"/>
          </p:cNvSpPr>
          <p:nvPr/>
        </p:nvSpPr>
        <p:spPr>
          <a:xfrm>
            <a:off x="857250" y="2562225"/>
            <a:ext cx="514350" cy="51435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0600" y="2695575"/>
            <a:ext cx="247650" cy="247650"/>
          </a:xfrm>
          <a:prstGeom prst="rect">
            <a:avLst/>
          </a:prstGeom>
        </p:spPr>
      </p:pic>
      <p:sp>
        <p:nvSpPr>
          <p:cNvPr id="12" name="source-label-1">
            <a:extLst>
              <a:ext uri="{FF2B5EF4-FFF2-40B4-BE49-F238E27FC236}">
                <a16:creationId xmlns:a16="http://schemas.microsoft.com/office/drawing/2014/main" id="{D416B27C-1D5F-41CE-B54E-71689C2E1F98}"/>
              </a:ext>
            </a:extLst>
          </p:cNvPr>
          <p:cNvSpPr>
            <a:spLocks noGrp="1"/>
          </p:cNvSpPr>
          <p:nvPr/>
        </p:nvSpPr>
        <p:spPr>
          <a:xfrm>
            <a:off x="1543050" y="2514600"/>
            <a:ext cx="1857375" cy="285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Consumos históricos</a:t>
            </a:r>
          </a:p>
        </p:txBody>
      </p:sp>
      <p:sp>
        <p:nvSpPr>
          <p:cNvPr id="13" name="source-sub-1">
            <a:extLst>
              <a:ext uri="{FF2B5EF4-FFF2-40B4-BE49-F238E27FC236}">
                <a16:creationId xmlns:a16="http://schemas.microsoft.com/office/drawing/2014/main" id="{4C3DFEB0-5948-4C08-A38A-2CA1E3A89732}"/>
              </a:ext>
            </a:extLst>
          </p:cNvPr>
          <p:cNvSpPr>
            <a:spLocks noGrp="1"/>
          </p:cNvSpPr>
          <p:nvPr/>
        </p:nvSpPr>
        <p:spPr>
          <a:xfrm>
            <a:off x="1543050" y="2838450"/>
            <a:ext cx="1857375" cy="2286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Clientes T1 · 2025</a:t>
            </a:r>
          </a:p>
        </p:txBody>
      </p:sp>
      <p:sp>
        <p:nvSpPr>
          <p:cNvPr id="14" name="plus-1">
            <a:extLst>
              <a:ext uri="{FF2B5EF4-FFF2-40B4-BE49-F238E27FC236}">
                <a16:creationId xmlns:a16="http://schemas.microsoft.com/office/drawing/2014/main" id="{DADE6AE5-5DF3-4907-9F6A-EFDBDFD5FDFC}"/>
              </a:ext>
            </a:extLst>
          </p:cNvPr>
          <p:cNvSpPr>
            <a:spLocks noGrp="1"/>
          </p:cNvSpPr>
          <p:nvPr/>
        </p:nvSpPr>
        <p:spPr>
          <a:xfrm>
            <a:off x="3762375" y="2609850"/>
            <a:ext cx="323850" cy="41910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source-node-2">
            <a:extLst>
              <a:ext uri="{FF2B5EF4-FFF2-40B4-BE49-F238E27FC236}">
                <a16:creationId xmlns:a16="http://schemas.microsoft.com/office/drawing/2014/main" id="{408FDF8A-BA99-4120-9B79-88F470E03C0C}"/>
              </a:ext>
            </a:extLst>
          </p:cNvPr>
          <p:cNvSpPr>
            <a:spLocks noGrp="1"/>
          </p:cNvSpPr>
          <p:nvPr/>
        </p:nvSpPr>
        <p:spPr>
          <a:xfrm>
            <a:off x="4419600" y="2343150"/>
            <a:ext cx="295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6" name="source-icon-bg-2">
            <a:extLst>
              <a:ext uri="{FF2B5EF4-FFF2-40B4-BE49-F238E27FC236}">
                <a16:creationId xmlns:a16="http://schemas.microsoft.com/office/drawing/2014/main" id="{E95CFBC0-A6D5-47F4-ADC2-41538C4DB1F3}"/>
              </a:ext>
            </a:extLst>
          </p:cNvPr>
          <p:cNvSpPr>
            <a:spLocks noGrp="1"/>
          </p:cNvSpPr>
          <p:nvPr/>
        </p:nvSpPr>
        <p:spPr>
          <a:xfrm>
            <a:off x="4629150" y="2562225"/>
            <a:ext cx="514350" cy="51435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62500" y="2695575"/>
            <a:ext cx="247650" cy="247650"/>
          </a:xfrm>
          <a:prstGeom prst="rect">
            <a:avLst/>
          </a:prstGeom>
        </p:spPr>
      </p:pic>
      <p:sp>
        <p:nvSpPr>
          <p:cNvPr id="18" name="source-label-2">
            <a:extLst>
              <a:ext uri="{FF2B5EF4-FFF2-40B4-BE49-F238E27FC236}">
                <a16:creationId xmlns:a16="http://schemas.microsoft.com/office/drawing/2014/main" id="{5E3B710F-ACC7-404A-AB21-B50F1FE0BC7E}"/>
              </a:ext>
            </a:extLst>
          </p:cNvPr>
          <p:cNvSpPr>
            <a:spLocks noGrp="1"/>
          </p:cNvSpPr>
          <p:nvPr/>
        </p:nvSpPr>
        <p:spPr>
          <a:xfrm>
            <a:off x="5314950" y="2514600"/>
            <a:ext cx="1857375" cy="285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Temperaturas horarias</a:t>
            </a:r>
          </a:p>
        </p:txBody>
      </p:sp>
      <p:sp>
        <p:nvSpPr>
          <p:cNvPr id="19" name="source-sub-2">
            <a:extLst>
              <a:ext uri="{FF2B5EF4-FFF2-40B4-BE49-F238E27FC236}">
                <a16:creationId xmlns:a16="http://schemas.microsoft.com/office/drawing/2014/main" id="{F14BBC4C-F117-4E81-9C4A-81A866C47C99}"/>
              </a:ext>
            </a:extLst>
          </p:cNvPr>
          <p:cNvSpPr>
            <a:spLocks noGrp="1"/>
          </p:cNvSpPr>
          <p:nvPr/>
        </p:nvSpPr>
        <p:spPr>
          <a:xfrm>
            <a:off x="5314950" y="2838450"/>
            <a:ext cx="1857375" cy="2286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Cobertura 2025–2026</a:t>
            </a:r>
          </a:p>
        </p:txBody>
      </p:sp>
      <p:sp>
        <p:nvSpPr>
          <p:cNvPr id="20" name="plus-2">
            <a:extLst>
              <a:ext uri="{FF2B5EF4-FFF2-40B4-BE49-F238E27FC236}">
                <a16:creationId xmlns:a16="http://schemas.microsoft.com/office/drawing/2014/main" id="{51E896AF-490B-415C-B3BE-360E9FAEB046}"/>
              </a:ext>
            </a:extLst>
          </p:cNvPr>
          <p:cNvSpPr>
            <a:spLocks noGrp="1"/>
          </p:cNvSpPr>
          <p:nvPr/>
        </p:nvSpPr>
        <p:spPr>
          <a:xfrm>
            <a:off x="7534275" y="2609850"/>
            <a:ext cx="323850" cy="41910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1" name="source-node-3">
            <a:extLst>
              <a:ext uri="{FF2B5EF4-FFF2-40B4-BE49-F238E27FC236}">
                <a16:creationId xmlns:a16="http://schemas.microsoft.com/office/drawing/2014/main" id="{FAF2EA72-7282-4485-9174-C5B8A313BD18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95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source-icon-bg-3">
            <a:extLst>
              <a:ext uri="{FF2B5EF4-FFF2-40B4-BE49-F238E27FC236}">
                <a16:creationId xmlns:a16="http://schemas.microsoft.com/office/drawing/2014/main" id="{5764DC94-BC99-4871-A95E-F2437BC43A7A}"/>
              </a:ext>
            </a:extLst>
          </p:cNvPr>
          <p:cNvSpPr>
            <a:spLocks noGrp="1"/>
          </p:cNvSpPr>
          <p:nvPr/>
        </p:nvSpPr>
        <p:spPr>
          <a:xfrm>
            <a:off x="8401050" y="2562225"/>
            <a:ext cx="514350" cy="514350"/>
          </a:xfrm>
          <a:prstGeom prst="ellipse">
            <a:avLst/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534400" y="2695575"/>
            <a:ext cx="247650" cy="247650"/>
          </a:xfrm>
          <a:prstGeom prst="rect">
            <a:avLst/>
          </a:prstGeom>
        </p:spPr>
      </p:pic>
      <p:sp>
        <p:nvSpPr>
          <p:cNvPr id="24" name="source-label-3">
            <a:extLst>
              <a:ext uri="{FF2B5EF4-FFF2-40B4-BE49-F238E27FC236}">
                <a16:creationId xmlns:a16="http://schemas.microsoft.com/office/drawing/2014/main" id="{B08A89E4-4C62-4FCA-9596-07341BF09877}"/>
              </a:ext>
            </a:extLst>
          </p:cNvPr>
          <p:cNvSpPr>
            <a:spLocks noGrp="1"/>
          </p:cNvSpPr>
          <p:nvPr/>
        </p:nvSpPr>
        <p:spPr>
          <a:xfrm>
            <a:off x="9086850" y="2514600"/>
            <a:ext cx="1857375" cy="285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Demanda diaria</a:t>
            </a:r>
          </a:p>
        </p:txBody>
      </p:sp>
      <p:sp>
        <p:nvSpPr>
          <p:cNvPr id="25" name="source-sub-3">
            <a:extLst>
              <a:ext uri="{FF2B5EF4-FFF2-40B4-BE49-F238E27FC236}">
                <a16:creationId xmlns:a16="http://schemas.microsoft.com/office/drawing/2014/main" id="{82B967A6-3853-43C5-BF4E-80A98E3AB57F}"/>
              </a:ext>
            </a:extLst>
          </p:cNvPr>
          <p:cNvSpPr>
            <a:spLocks noGrp="1"/>
          </p:cNvSpPr>
          <p:nvPr/>
        </p:nvSpPr>
        <p:spPr>
          <a:xfrm>
            <a:off x="9086850" y="2838450"/>
            <a:ext cx="1857375" cy="2286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Serie consolidada</a:t>
            </a:r>
          </a:p>
        </p:txBody>
      </p:sp>
      <p:sp>
        <p:nvSpPr>
          <p:cNvPr id="26" name="process-node">
            <a:extLst>
              <a:ext uri="{FF2B5EF4-FFF2-40B4-BE49-F238E27FC236}">
                <a16:creationId xmlns:a16="http://schemas.microsoft.com/office/drawing/2014/main" id="{3E42C4B3-B331-43AD-888F-D7DC19AF7EC3}"/>
              </a:ext>
            </a:extLst>
          </p:cNvPr>
          <p:cNvSpPr>
            <a:spLocks noGrp="1"/>
          </p:cNvSpPr>
          <p:nvPr/>
        </p:nvSpPr>
        <p:spPr>
          <a:xfrm>
            <a:off x="3467100" y="3905250"/>
            <a:ext cx="5257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790950" y="4095750"/>
            <a:ext cx="304800" cy="304800"/>
          </a:xfrm>
          <a:prstGeom prst="rect">
            <a:avLst/>
          </a:prstGeom>
        </p:spPr>
      </p:pic>
      <p:sp>
        <p:nvSpPr>
          <p:cNvPr id="28" name="process-label">
            <a:extLst>
              <a:ext uri="{FF2B5EF4-FFF2-40B4-BE49-F238E27FC236}">
                <a16:creationId xmlns:a16="http://schemas.microsoft.com/office/drawing/2014/main" id="{5D272687-7BA2-489E-B694-78D535EA6E77}"/>
              </a:ext>
            </a:extLst>
          </p:cNvPr>
          <p:cNvSpPr>
            <a:spLocks noGrp="1"/>
          </p:cNvSpPr>
          <p:nvPr/>
        </p:nvSpPr>
        <p:spPr>
          <a:xfrm>
            <a:off x="4305300" y="3981450"/>
            <a:ext cx="4000500" cy="3048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Limpieza y agregación</a:t>
            </a:r>
          </a:p>
        </p:txBody>
      </p:sp>
      <p:sp>
        <p:nvSpPr>
          <p:cNvPr id="29" name="process-sub">
            <a:extLst>
              <a:ext uri="{FF2B5EF4-FFF2-40B4-BE49-F238E27FC236}">
                <a16:creationId xmlns:a16="http://schemas.microsoft.com/office/drawing/2014/main" id="{CD1EB3C9-849E-4C18-A5F2-C35BB4267F76}"/>
              </a:ext>
            </a:extLst>
          </p:cNvPr>
          <p:cNvSpPr>
            <a:spLocks noGrp="1"/>
          </p:cNvSpPr>
          <p:nvPr/>
        </p:nvSpPr>
        <p:spPr>
          <a:xfrm>
            <a:off x="4305300" y="4305300"/>
            <a:ext cx="40005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Normalización · última lectura por cliente-mes · escala mensual</a:t>
            </a:r>
          </a:p>
        </p:txBody>
      </p:sp>
      <p:sp>
        <p:nvSpPr>
          <p:cNvPr id="30" name="final-node">
            <a:extLst>
              <a:ext uri="{FF2B5EF4-FFF2-40B4-BE49-F238E27FC236}">
                <a16:creationId xmlns:a16="http://schemas.microsoft.com/office/drawing/2014/main" id="{3C8D9592-4A88-4CFE-B552-D2833D3E8EEA}"/>
              </a:ext>
            </a:extLst>
          </p:cNvPr>
          <p:cNvSpPr>
            <a:spLocks noGrp="1"/>
          </p:cNvSpPr>
          <p:nvPr/>
        </p:nvSpPr>
        <p:spPr>
          <a:xfrm>
            <a:off x="3467100" y="4953000"/>
            <a:ext cx="5257800" cy="781050"/>
          </a:xfrm>
          <a:prstGeom prst="roundRect">
            <a:avLst>
              <a:gd name="adj" fmla="val 9756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3790950" y="5181600"/>
            <a:ext cx="323850" cy="323850"/>
          </a:xfrm>
          <a:prstGeom prst="rect">
            <a:avLst/>
          </a:prstGeom>
        </p:spPr>
      </p:pic>
      <p:sp>
        <p:nvSpPr>
          <p:cNvPr id="32" name="final-label">
            <a:extLst>
              <a:ext uri="{FF2B5EF4-FFF2-40B4-BE49-F238E27FC236}">
                <a16:creationId xmlns:a16="http://schemas.microsoft.com/office/drawing/2014/main" id="{426886BF-684E-4423-8EAC-D29FE509F21B}"/>
              </a:ext>
            </a:extLst>
          </p:cNvPr>
          <p:cNvSpPr>
            <a:spLocks noGrp="1"/>
          </p:cNvSpPr>
          <p:nvPr/>
        </p:nvSpPr>
        <p:spPr>
          <a:xfrm>
            <a:off x="4305300" y="5038725"/>
            <a:ext cx="4000500" cy="32385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Dataset mensual modelable</a:t>
            </a:r>
          </a:p>
        </p:txBody>
      </p:sp>
      <p:sp>
        <p:nvSpPr>
          <p:cNvPr id="33" name="final-sub">
            <a:extLst>
              <a:ext uri="{FF2B5EF4-FFF2-40B4-BE49-F238E27FC236}">
                <a16:creationId xmlns:a16="http://schemas.microsoft.com/office/drawing/2014/main" id="{C435E743-43B5-4EC4-9CB9-2842D6D1C82D}"/>
              </a:ext>
            </a:extLst>
          </p:cNvPr>
          <p:cNvSpPr>
            <a:spLocks noGrp="1"/>
          </p:cNvSpPr>
          <p:nvPr/>
        </p:nvSpPr>
        <p:spPr>
          <a:xfrm>
            <a:off x="4305300" y="5391150"/>
            <a:ext cx="4000500" cy="1905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D8EA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AF5"/>
                </a:solidFill>
                <a:latin typeface="Aptos"/>
                <a:ea typeface="Aptos"/>
                <a:cs typeface="Aptos"/>
              </a:rPr>
              <a:t>Consumo mensual expresado en GWh</a:t>
            </a:r>
          </a:p>
        </p:txBody>
      </p:sp>
      <p:cxnSp>
        <p:nvCxnSpPr>
          <p:cNvPr id="34" name="source-process-connector-1"/>
          <p:cNvCxnSpPr>
            <a:stCxn id="9" idx="2"/>
            <a:endCxn id="26" idx="0"/>
          </p:cNvCxnSpPr>
          <p:nvPr/>
        </p:nvCxnSpPr>
        <p:spPr>
          <a:xfrm>
            <a:off x="2124075" y="3295650"/>
            <a:ext cx="3971925" cy="6096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35" name="source-process-connector-2"/>
          <p:cNvCxnSpPr>
            <a:stCxn id="15" idx="2"/>
            <a:endCxn id="26" idx="0"/>
          </p:cNvCxnSpPr>
          <p:nvPr/>
        </p:nvCxnSpPr>
        <p:spPr>
          <a:xfrm>
            <a:off x="5895975" y="3295650"/>
            <a:ext cx="200025" cy="6096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36" name="source-process-connector-3"/>
          <p:cNvCxnSpPr>
            <a:stCxn id="21" idx="2"/>
            <a:endCxn id="26" idx="0"/>
          </p:cNvCxnSpPr>
          <p:nvPr/>
        </p:nvCxnSpPr>
        <p:spPr>
          <a:xfrm flipH="1">
            <a:off x="6096000" y="3295650"/>
            <a:ext cx="3571875" cy="6096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37" name="process-final-connector"/>
          <p:cNvCxnSpPr>
            <a:stCxn id="26" idx="2"/>
            <a:endCxn id="30" idx="0"/>
          </p:cNvCxnSpPr>
          <p:nvPr/>
        </p:nvCxnSpPr>
        <p:spPr>
          <a:xfrm>
            <a:off x="6096000" y="4591050"/>
            <a:ext cx="0" cy="361950"/>
          </a:xfrm>
          <a:prstGeom prst="straightConnector1">
            <a:avLst/>
          </a:prstGeom>
          <a:ln w="22860">
            <a:solidFill>
              <a:srgbClr val="2878B5"/>
            </a:solidFill>
            <a:prstDash val="solid"/>
            <a:tailEnd type="arrow" w="med" len="med"/>
          </a:ln>
        </p:spPr>
      </p:cxnSp>
      <p:sp>
        <p:nvSpPr>
          <p:cNvPr id="38" name="metric-1-value">
            <a:extLst>
              <a:ext uri="{FF2B5EF4-FFF2-40B4-BE49-F238E27FC236}">
                <a16:creationId xmlns:a16="http://schemas.microsoft.com/office/drawing/2014/main" id="{C7206202-76D8-40DC-AAF3-025EC7670F4F}"/>
              </a:ext>
            </a:extLst>
          </p:cNvPr>
          <p:cNvSpPr>
            <a:spLocks noGrp="1"/>
          </p:cNvSpPr>
          <p:nvPr/>
        </p:nvSpPr>
        <p:spPr>
          <a:xfrm>
            <a:off x="8991600" y="3886200"/>
            <a:ext cx="99060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878B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878B5"/>
                </a:solidFill>
                <a:latin typeface="Aptos Display"/>
                <a:ea typeface="Aptos Display"/>
                <a:cs typeface="Aptos Display"/>
              </a:rPr>
              <a:t>711.829</a:t>
            </a:r>
          </a:p>
        </p:txBody>
      </p:sp>
      <p:sp>
        <p:nvSpPr>
          <p:cNvPr id="39" name="metric-1-label">
            <a:extLst>
              <a:ext uri="{FF2B5EF4-FFF2-40B4-BE49-F238E27FC236}">
                <a16:creationId xmlns:a16="http://schemas.microsoft.com/office/drawing/2014/main" id="{1DE1E45A-0DBF-4AE2-B854-44BABE151C94}"/>
              </a:ext>
            </a:extLst>
          </p:cNvPr>
          <p:cNvSpPr>
            <a:spLocks noGrp="1"/>
          </p:cNvSpPr>
          <p:nvPr/>
        </p:nvSpPr>
        <p:spPr>
          <a:xfrm>
            <a:off x="8991600" y="4248150"/>
            <a:ext cx="990600" cy="2286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filas iniciales</a:t>
            </a:r>
          </a:p>
        </p:txBody>
      </p:sp>
      <p:sp>
        <p:nvSpPr>
          <p:cNvPr id="40" name="metric-2-value">
            <a:extLst>
              <a:ext uri="{FF2B5EF4-FFF2-40B4-BE49-F238E27FC236}">
                <a16:creationId xmlns:a16="http://schemas.microsoft.com/office/drawing/2014/main" id="{54BABC14-7D3D-4FC5-A97A-0732F0E64CC0}"/>
              </a:ext>
            </a:extLst>
          </p:cNvPr>
          <p:cNvSpPr>
            <a:spLocks noGrp="1"/>
          </p:cNvSpPr>
          <p:nvPr/>
        </p:nvSpPr>
        <p:spPr>
          <a:xfrm>
            <a:off x="10172700" y="3886200"/>
            <a:ext cx="66675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2878B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878B5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41" name="metric-2-label">
            <a:extLst>
              <a:ext uri="{FF2B5EF4-FFF2-40B4-BE49-F238E27FC236}">
                <a16:creationId xmlns:a16="http://schemas.microsoft.com/office/drawing/2014/main" id="{9832882B-8B62-4466-9225-4C7C8822E6F3}"/>
              </a:ext>
            </a:extLst>
          </p:cNvPr>
          <p:cNvSpPr>
            <a:spLocks noGrp="1"/>
          </p:cNvSpPr>
          <p:nvPr/>
        </p:nvSpPr>
        <p:spPr>
          <a:xfrm>
            <a:off x="10172700" y="4248150"/>
            <a:ext cx="666750" cy="2286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columnas</a:t>
            </a:r>
          </a:p>
        </p:txBody>
      </p:sp>
      <p:sp>
        <p:nvSpPr>
          <p:cNvPr id="42" name="metric-3-value">
            <a:extLst>
              <a:ext uri="{FF2B5EF4-FFF2-40B4-BE49-F238E27FC236}">
                <a16:creationId xmlns:a16="http://schemas.microsoft.com/office/drawing/2014/main" id="{3B86D0C2-3CF4-4788-BAC2-1A428CD37ED4}"/>
              </a:ext>
            </a:extLst>
          </p:cNvPr>
          <p:cNvSpPr>
            <a:spLocks noGrp="1"/>
          </p:cNvSpPr>
          <p:nvPr/>
        </p:nvSpPr>
        <p:spPr>
          <a:xfrm>
            <a:off x="11068050" y="3886200"/>
            <a:ext cx="66675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E59A2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59A2F"/>
                </a:solidFill>
                <a:latin typeface="Aptos Display"/>
                <a:ea typeface="Aptos Display"/>
                <a:cs typeface="Aptos Display"/>
              </a:rPr>
              <a:t>GWh</a:t>
            </a:r>
          </a:p>
        </p:txBody>
      </p:sp>
      <p:sp>
        <p:nvSpPr>
          <p:cNvPr id="43" name="metric-3-label">
            <a:extLst>
              <a:ext uri="{FF2B5EF4-FFF2-40B4-BE49-F238E27FC236}">
                <a16:creationId xmlns:a16="http://schemas.microsoft.com/office/drawing/2014/main" id="{AD53378E-81F4-45BF-9BBD-992AC752A6C8}"/>
              </a:ext>
            </a:extLst>
          </p:cNvPr>
          <p:cNvSpPr>
            <a:spLocks noGrp="1"/>
          </p:cNvSpPr>
          <p:nvPr/>
        </p:nvSpPr>
        <p:spPr>
          <a:xfrm>
            <a:off x="11068050" y="4248150"/>
            <a:ext cx="666750" cy="2286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escala final</a:t>
            </a:r>
          </a:p>
        </p:txBody>
      </p:sp>
      <p:sp>
        <p:nvSpPr>
          <p:cNvPr id="44" name="footer-rule">
            <a:extLst>
              <a:ext uri="{FF2B5EF4-FFF2-40B4-BE49-F238E27FC236}">
                <a16:creationId xmlns:a16="http://schemas.microsoft.com/office/drawing/2014/main" id="{77F311FB-D7EC-4607-B916-1E865E7F58F0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5" name="footer-message">
            <a:extLst>
              <a:ext uri="{FF2B5EF4-FFF2-40B4-BE49-F238E27FC236}">
                <a16:creationId xmlns:a16="http://schemas.microsoft.com/office/drawing/2014/main" id="{5B62783E-F23C-42D5-9261-22748E94B920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990600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Resultado del proceso: una base mensual integrada y lista para modelar.</a:t>
            </a:r>
          </a:p>
        </p:txBody>
      </p:sp>
      <p:sp>
        <p:nvSpPr>
          <p:cNvPr id="46" name="page-number">
            <a:extLst>
              <a:ext uri="{FF2B5EF4-FFF2-40B4-BE49-F238E27FC236}">
                <a16:creationId xmlns:a16="http://schemas.microsoft.com/office/drawing/2014/main" id="{9E28EE38-489E-4586-86C4-1293D7307EB2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74295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324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ackground">
            <a:extLst>
              <a:ext uri="{FF2B5EF4-FFF2-40B4-BE49-F238E27FC236}">
                <a16:creationId xmlns:a16="http://schemas.microsoft.com/office/drawing/2014/main" id="{25707660-4074-47BC-A969-8DB6B067A4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4AA38C86-AF9D-48A1-9766-96ECD38A26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86D50DCD-7CB3-4C45-BC5F-E8C4F92E53C7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69639F7E-423B-4659-9652-5F0A1482528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2857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METODOLOGÍA DE ANÁLISIS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9A070F49-89E7-453A-AFF7-334A9AB8026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6096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De temperaturas horarias a modelos mensuales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454E9040-7FB3-404F-BF4E-44D6E5822270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7810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flujo transforma observaciones climáticas en variables comparables con el consumo mensual.</a:t>
            </a:r>
          </a:p>
        </p:txBody>
      </p:sp>
      <p:sp>
        <p:nvSpPr>
          <p:cNvPr id="7" name="method-field">
            <a:extLst>
              <a:ext uri="{FF2B5EF4-FFF2-40B4-BE49-F238E27FC236}">
                <a16:creationId xmlns:a16="http://schemas.microsoft.com/office/drawing/2014/main" id="{5ECDD70B-436D-44D5-BC97-4AD6F1A0A4C1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11391900" cy="3314700"/>
          </a:xfrm>
          <a:prstGeom prst="roundRect">
            <a:avLst>
              <a:gd name="adj" fmla="val 2299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method-label">
            <a:extLst>
              <a:ext uri="{FF2B5EF4-FFF2-40B4-BE49-F238E27FC236}">
                <a16:creationId xmlns:a16="http://schemas.microsoft.com/office/drawing/2014/main" id="{182BE46C-D040-4968-B0D0-5CB63E8DB67B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2190750" cy="2095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LÍNEA METODOLÓGICA</a:t>
            </a:r>
          </a:p>
        </p:txBody>
      </p:sp>
      <p:sp>
        <p:nvSpPr>
          <p:cNvPr id="9" name="stage-1">
            <a:extLst>
              <a:ext uri="{FF2B5EF4-FFF2-40B4-BE49-F238E27FC236}">
                <a16:creationId xmlns:a16="http://schemas.microsoft.com/office/drawing/2014/main" id="{63722B6A-31D3-4BA2-9145-2EA45B9E6046}"/>
              </a:ext>
            </a:extLst>
          </p:cNvPr>
          <p:cNvSpPr>
            <a:spLocks noGrp="1"/>
          </p:cNvSpPr>
          <p:nvPr/>
        </p:nvSpPr>
        <p:spPr>
          <a:xfrm>
            <a:off x="619125" y="2876550"/>
            <a:ext cx="1476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" name="stage-1-icon-bg">
            <a:extLst>
              <a:ext uri="{FF2B5EF4-FFF2-40B4-BE49-F238E27FC236}">
                <a16:creationId xmlns:a16="http://schemas.microsoft.com/office/drawing/2014/main" id="{271F5AB9-38A0-4B16-8852-206311B470F2}"/>
              </a:ext>
            </a:extLst>
          </p:cNvPr>
          <p:cNvSpPr>
            <a:spLocks noGrp="1"/>
          </p:cNvSpPr>
          <p:nvPr/>
        </p:nvSpPr>
        <p:spPr>
          <a:xfrm>
            <a:off x="1114425" y="3048000"/>
            <a:ext cx="495300" cy="49530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38250" y="3171825"/>
            <a:ext cx="247650" cy="247650"/>
          </a:xfrm>
          <a:prstGeom prst="rect">
            <a:avLst/>
          </a:prstGeom>
        </p:spPr>
      </p:pic>
      <p:sp>
        <p:nvSpPr>
          <p:cNvPr id="12" name="stage-1-title">
            <a:extLst>
              <a:ext uri="{FF2B5EF4-FFF2-40B4-BE49-F238E27FC236}">
                <a16:creationId xmlns:a16="http://schemas.microsoft.com/office/drawing/2014/main" id="{C8BF9A37-8AA4-4462-B2F1-C89F985F87CA}"/>
              </a:ext>
            </a:extLst>
          </p:cNvPr>
          <p:cNvSpPr>
            <a:spLocks noGrp="1"/>
          </p:cNvSpPr>
          <p:nvPr/>
        </p:nvSpPr>
        <p:spPr>
          <a:xfrm>
            <a:off x="733425" y="3619500"/>
            <a:ext cx="1247775" cy="4191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Temperatura</a:t>
            </a:r>
          </a:p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horaria</a:t>
            </a:r>
          </a:p>
        </p:txBody>
      </p:sp>
      <p:sp>
        <p:nvSpPr>
          <p:cNvPr id="13" name="stage-1-sub">
            <a:extLst>
              <a:ext uri="{FF2B5EF4-FFF2-40B4-BE49-F238E27FC236}">
                <a16:creationId xmlns:a16="http://schemas.microsoft.com/office/drawing/2014/main" id="{F7D22742-9AC2-4389-8DD2-EBC410E3D673}"/>
              </a:ext>
            </a:extLst>
          </p:cNvPr>
          <p:cNvSpPr>
            <a:spLocks noGrp="1"/>
          </p:cNvSpPr>
          <p:nvPr/>
        </p:nvSpPr>
        <p:spPr>
          <a:xfrm>
            <a:off x="714375" y="4076700"/>
            <a:ext cx="1285875" cy="190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Observaciones climáticas</a:t>
            </a:r>
          </a:p>
        </p:txBody>
      </p:sp>
      <p:sp>
        <p:nvSpPr>
          <p:cNvPr id="14" name="stage-2">
            <a:extLst>
              <a:ext uri="{FF2B5EF4-FFF2-40B4-BE49-F238E27FC236}">
                <a16:creationId xmlns:a16="http://schemas.microsoft.com/office/drawing/2014/main" id="{EA52E3A7-0E30-43E2-82AB-A91A45B6A661}"/>
              </a:ext>
            </a:extLst>
          </p:cNvPr>
          <p:cNvSpPr>
            <a:spLocks noGrp="1"/>
          </p:cNvSpPr>
          <p:nvPr/>
        </p:nvSpPr>
        <p:spPr>
          <a:xfrm>
            <a:off x="2476500" y="2876550"/>
            <a:ext cx="1476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5" name="stage-2-icon-bg">
            <a:extLst>
              <a:ext uri="{FF2B5EF4-FFF2-40B4-BE49-F238E27FC236}">
                <a16:creationId xmlns:a16="http://schemas.microsoft.com/office/drawing/2014/main" id="{B035EB03-A13F-4695-9F51-E1BD68461180}"/>
              </a:ext>
            </a:extLst>
          </p:cNvPr>
          <p:cNvSpPr>
            <a:spLocks noGrp="1"/>
          </p:cNvSpPr>
          <p:nvPr/>
        </p:nvSpPr>
        <p:spPr>
          <a:xfrm>
            <a:off x="2971800" y="3048000"/>
            <a:ext cx="495300" cy="49530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95625" y="3171825"/>
            <a:ext cx="247650" cy="247650"/>
          </a:xfrm>
          <a:prstGeom prst="rect">
            <a:avLst/>
          </a:prstGeom>
        </p:spPr>
      </p:pic>
      <p:sp>
        <p:nvSpPr>
          <p:cNvPr id="17" name="stage-2-title">
            <a:extLst>
              <a:ext uri="{FF2B5EF4-FFF2-40B4-BE49-F238E27FC236}">
                <a16:creationId xmlns:a16="http://schemas.microsoft.com/office/drawing/2014/main" id="{D967C4D4-DA3A-4882-B247-588C431DEE6C}"/>
              </a:ext>
            </a:extLst>
          </p:cNvPr>
          <p:cNvSpPr>
            <a:spLocks noGrp="1"/>
          </p:cNvSpPr>
          <p:nvPr/>
        </p:nvSpPr>
        <p:spPr>
          <a:xfrm>
            <a:off x="2590800" y="3619500"/>
            <a:ext cx="1247775" cy="4191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HDD / CDD</a:t>
            </a:r>
          </a:p>
        </p:txBody>
      </p:sp>
      <p:sp>
        <p:nvSpPr>
          <p:cNvPr id="18" name="stage-2-sub">
            <a:extLst>
              <a:ext uri="{FF2B5EF4-FFF2-40B4-BE49-F238E27FC236}">
                <a16:creationId xmlns:a16="http://schemas.microsoft.com/office/drawing/2014/main" id="{9F17096C-EF1D-4175-A047-DD43854931D7}"/>
              </a:ext>
            </a:extLst>
          </p:cNvPr>
          <p:cNvSpPr>
            <a:spLocks noGrp="1"/>
          </p:cNvSpPr>
          <p:nvPr/>
        </p:nvSpPr>
        <p:spPr>
          <a:xfrm>
            <a:off x="2571750" y="4076700"/>
            <a:ext cx="1285875" cy="190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Cálculo horario</a:t>
            </a:r>
          </a:p>
        </p:txBody>
      </p:sp>
      <p:sp>
        <p:nvSpPr>
          <p:cNvPr id="19" name="stage-3">
            <a:extLst>
              <a:ext uri="{FF2B5EF4-FFF2-40B4-BE49-F238E27FC236}">
                <a16:creationId xmlns:a16="http://schemas.microsoft.com/office/drawing/2014/main" id="{34579CA8-6049-4ED1-83CE-460A4591C9B4}"/>
              </a:ext>
            </a:extLst>
          </p:cNvPr>
          <p:cNvSpPr>
            <a:spLocks noGrp="1"/>
          </p:cNvSpPr>
          <p:nvPr/>
        </p:nvSpPr>
        <p:spPr>
          <a:xfrm>
            <a:off x="4333875" y="2876550"/>
            <a:ext cx="1476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stage-3-icon-bg">
            <a:extLst>
              <a:ext uri="{FF2B5EF4-FFF2-40B4-BE49-F238E27FC236}">
                <a16:creationId xmlns:a16="http://schemas.microsoft.com/office/drawing/2014/main" id="{C7C9FB3B-1B57-4A05-A7D0-D4F38502F3DE}"/>
              </a:ext>
            </a:extLst>
          </p:cNvPr>
          <p:cNvSpPr>
            <a:spLocks noGrp="1"/>
          </p:cNvSpPr>
          <p:nvPr/>
        </p:nvSpPr>
        <p:spPr>
          <a:xfrm>
            <a:off x="4829175" y="3048000"/>
            <a:ext cx="495300" cy="49530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1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953000" y="3171825"/>
            <a:ext cx="247650" cy="247650"/>
          </a:xfrm>
          <a:prstGeom prst="rect">
            <a:avLst/>
          </a:prstGeom>
        </p:spPr>
      </p:pic>
      <p:sp>
        <p:nvSpPr>
          <p:cNvPr id="22" name="stage-3-title">
            <a:extLst>
              <a:ext uri="{FF2B5EF4-FFF2-40B4-BE49-F238E27FC236}">
                <a16:creationId xmlns:a16="http://schemas.microsoft.com/office/drawing/2014/main" id="{1D4AFB06-34C6-4B24-A39F-4259431C213E}"/>
              </a:ext>
            </a:extLst>
          </p:cNvPr>
          <p:cNvSpPr>
            <a:spLocks noGrp="1"/>
          </p:cNvSpPr>
          <p:nvPr/>
        </p:nvSpPr>
        <p:spPr>
          <a:xfrm>
            <a:off x="4448175" y="3619500"/>
            <a:ext cx="1247775" cy="4191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Promedio</a:t>
            </a:r>
          </a:p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diario</a:t>
            </a:r>
          </a:p>
        </p:txBody>
      </p:sp>
      <p:sp>
        <p:nvSpPr>
          <p:cNvPr id="23" name="stage-3-sub">
            <a:extLst>
              <a:ext uri="{FF2B5EF4-FFF2-40B4-BE49-F238E27FC236}">
                <a16:creationId xmlns:a16="http://schemas.microsoft.com/office/drawing/2014/main" id="{5B442548-809E-4114-A127-36C5967046BB}"/>
              </a:ext>
            </a:extLst>
          </p:cNvPr>
          <p:cNvSpPr>
            <a:spLocks noGrp="1"/>
          </p:cNvSpPr>
          <p:nvPr/>
        </p:nvSpPr>
        <p:spPr>
          <a:xfrm>
            <a:off x="4429125" y="4076700"/>
            <a:ext cx="1285875" cy="190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Síntesis por día</a:t>
            </a:r>
          </a:p>
        </p:txBody>
      </p:sp>
      <p:sp>
        <p:nvSpPr>
          <p:cNvPr id="24" name="stage-4">
            <a:extLst>
              <a:ext uri="{FF2B5EF4-FFF2-40B4-BE49-F238E27FC236}">
                <a16:creationId xmlns:a16="http://schemas.microsoft.com/office/drawing/2014/main" id="{400215AF-A5AB-48A5-84C5-50EE8A3EE90B}"/>
              </a:ext>
            </a:extLst>
          </p:cNvPr>
          <p:cNvSpPr>
            <a:spLocks noGrp="1"/>
          </p:cNvSpPr>
          <p:nvPr/>
        </p:nvSpPr>
        <p:spPr>
          <a:xfrm>
            <a:off x="6191250" y="2876550"/>
            <a:ext cx="1476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5" name="stage-4-icon-bg">
            <a:extLst>
              <a:ext uri="{FF2B5EF4-FFF2-40B4-BE49-F238E27FC236}">
                <a16:creationId xmlns:a16="http://schemas.microsoft.com/office/drawing/2014/main" id="{AEF1B64E-E1A1-49D0-91E6-5F8096929DEB}"/>
              </a:ext>
            </a:extLst>
          </p:cNvPr>
          <p:cNvSpPr>
            <a:spLocks noGrp="1"/>
          </p:cNvSpPr>
          <p:nvPr/>
        </p:nvSpPr>
        <p:spPr>
          <a:xfrm>
            <a:off x="6686550" y="3048000"/>
            <a:ext cx="495300" cy="49530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6" name="Graphic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810375" y="3171825"/>
            <a:ext cx="247650" cy="247650"/>
          </a:xfrm>
          <a:prstGeom prst="rect">
            <a:avLst/>
          </a:prstGeom>
        </p:spPr>
      </p:pic>
      <p:sp>
        <p:nvSpPr>
          <p:cNvPr id="27" name="stage-4-title">
            <a:extLst>
              <a:ext uri="{FF2B5EF4-FFF2-40B4-BE49-F238E27FC236}">
                <a16:creationId xmlns:a16="http://schemas.microsoft.com/office/drawing/2014/main" id="{C97ADEB4-A70D-428C-8ABA-FB56E13C8078}"/>
              </a:ext>
            </a:extLst>
          </p:cNvPr>
          <p:cNvSpPr>
            <a:spLocks noGrp="1"/>
          </p:cNvSpPr>
          <p:nvPr/>
        </p:nvSpPr>
        <p:spPr>
          <a:xfrm>
            <a:off x="6305550" y="3619500"/>
            <a:ext cx="1247775" cy="4191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Agregación</a:t>
            </a:r>
          </a:p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mensual</a:t>
            </a:r>
          </a:p>
        </p:txBody>
      </p:sp>
      <p:sp>
        <p:nvSpPr>
          <p:cNvPr id="28" name="stage-4-sub">
            <a:extLst>
              <a:ext uri="{FF2B5EF4-FFF2-40B4-BE49-F238E27FC236}">
                <a16:creationId xmlns:a16="http://schemas.microsoft.com/office/drawing/2014/main" id="{482A05CC-9F1C-4683-86B2-818C9B34F7F6}"/>
              </a:ext>
            </a:extLst>
          </p:cNvPr>
          <p:cNvSpPr>
            <a:spLocks noGrp="1"/>
          </p:cNvSpPr>
          <p:nvPr/>
        </p:nvSpPr>
        <p:spPr>
          <a:xfrm>
            <a:off x="6286500" y="4076700"/>
            <a:ext cx="1285875" cy="190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Variables por mes</a:t>
            </a:r>
          </a:p>
        </p:txBody>
      </p:sp>
      <p:sp>
        <p:nvSpPr>
          <p:cNvPr id="29" name="stage-5">
            <a:extLst>
              <a:ext uri="{FF2B5EF4-FFF2-40B4-BE49-F238E27FC236}">
                <a16:creationId xmlns:a16="http://schemas.microsoft.com/office/drawing/2014/main" id="{2EF25CEF-6E17-4BF8-8EBA-502F6D5965DB}"/>
              </a:ext>
            </a:extLst>
          </p:cNvPr>
          <p:cNvSpPr>
            <a:spLocks noGrp="1"/>
          </p:cNvSpPr>
          <p:nvPr/>
        </p:nvSpPr>
        <p:spPr>
          <a:xfrm>
            <a:off x="8048625" y="2876550"/>
            <a:ext cx="1476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0" name="stage-5-icon-bg">
            <a:extLst>
              <a:ext uri="{FF2B5EF4-FFF2-40B4-BE49-F238E27FC236}">
                <a16:creationId xmlns:a16="http://schemas.microsoft.com/office/drawing/2014/main" id="{0F8E2ACE-CB74-4BC8-B77D-DFB4E945DB3A}"/>
              </a:ext>
            </a:extLst>
          </p:cNvPr>
          <p:cNvSpPr>
            <a:spLocks noGrp="1"/>
          </p:cNvSpPr>
          <p:nvPr/>
        </p:nvSpPr>
        <p:spPr>
          <a:xfrm>
            <a:off x="8543925" y="3048000"/>
            <a:ext cx="495300" cy="495300"/>
          </a:xfrm>
          <a:prstGeom prst="ellipse">
            <a:avLst/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667750" y="3171825"/>
            <a:ext cx="247650" cy="247650"/>
          </a:xfrm>
          <a:prstGeom prst="rect">
            <a:avLst/>
          </a:prstGeom>
        </p:spPr>
      </p:pic>
      <p:sp>
        <p:nvSpPr>
          <p:cNvPr id="32" name="stage-5-title">
            <a:extLst>
              <a:ext uri="{FF2B5EF4-FFF2-40B4-BE49-F238E27FC236}">
                <a16:creationId xmlns:a16="http://schemas.microsoft.com/office/drawing/2014/main" id="{D013841D-52AB-4308-9615-50EBD3B6E169}"/>
              </a:ext>
            </a:extLst>
          </p:cNvPr>
          <p:cNvSpPr>
            <a:spLocks noGrp="1"/>
          </p:cNvSpPr>
          <p:nvPr/>
        </p:nvSpPr>
        <p:spPr>
          <a:xfrm>
            <a:off x="8162925" y="3619500"/>
            <a:ext cx="1247775" cy="4191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Regresión</a:t>
            </a:r>
          </a:p>
          <a:p>
            <a:pPr algn="ctr">
              <a:def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OLS</a:t>
            </a:r>
          </a:p>
        </p:txBody>
      </p:sp>
      <p:sp>
        <p:nvSpPr>
          <p:cNvPr id="33" name="stage-5-sub">
            <a:extLst>
              <a:ext uri="{FF2B5EF4-FFF2-40B4-BE49-F238E27FC236}">
                <a16:creationId xmlns:a16="http://schemas.microsoft.com/office/drawing/2014/main" id="{EF06C0A0-C2B0-429B-9DF5-28AC28C7DBC2}"/>
              </a:ext>
            </a:extLst>
          </p:cNvPr>
          <p:cNvSpPr>
            <a:spLocks noGrp="1"/>
          </p:cNvSpPr>
          <p:nvPr/>
        </p:nvSpPr>
        <p:spPr>
          <a:xfrm>
            <a:off x="8143875" y="4076700"/>
            <a:ext cx="1285875" cy="190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Ajuste de modelos</a:t>
            </a:r>
          </a:p>
        </p:txBody>
      </p:sp>
      <p:sp>
        <p:nvSpPr>
          <p:cNvPr id="34" name="stage-6">
            <a:extLst>
              <a:ext uri="{FF2B5EF4-FFF2-40B4-BE49-F238E27FC236}">
                <a16:creationId xmlns:a16="http://schemas.microsoft.com/office/drawing/2014/main" id="{D3EE9B8E-6B6B-4BC1-B1A9-ECEF3AB26982}"/>
              </a:ext>
            </a:extLst>
          </p:cNvPr>
          <p:cNvSpPr>
            <a:spLocks noGrp="1"/>
          </p:cNvSpPr>
          <p:nvPr/>
        </p:nvSpPr>
        <p:spPr>
          <a:xfrm>
            <a:off x="9906000" y="2876550"/>
            <a:ext cx="1476375" cy="142875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5" name="stage-6-icon-bg">
            <a:extLst>
              <a:ext uri="{FF2B5EF4-FFF2-40B4-BE49-F238E27FC236}">
                <a16:creationId xmlns:a16="http://schemas.microsoft.com/office/drawing/2014/main" id="{E32A4885-2C9E-48E6-BD30-D34E2DD3D7A3}"/>
              </a:ext>
            </a:extLst>
          </p:cNvPr>
          <p:cNvSpPr>
            <a:spLocks noGrp="1"/>
          </p:cNvSpPr>
          <p:nvPr/>
        </p:nvSpPr>
        <p:spPr>
          <a:xfrm>
            <a:off x="10401300" y="3048000"/>
            <a:ext cx="495300" cy="495300"/>
          </a:xfrm>
          <a:prstGeom prst="ellipse">
            <a:avLst/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0525125" y="3171825"/>
            <a:ext cx="247650" cy="247650"/>
          </a:xfrm>
          <a:prstGeom prst="rect">
            <a:avLst/>
          </a:prstGeom>
        </p:spPr>
      </p:pic>
      <p:sp>
        <p:nvSpPr>
          <p:cNvPr id="37" name="stage-6-title">
            <a:extLst>
              <a:ext uri="{FF2B5EF4-FFF2-40B4-BE49-F238E27FC236}">
                <a16:creationId xmlns:a16="http://schemas.microsoft.com/office/drawing/2014/main" id="{1DE5DD82-4288-4E1C-AD3F-58ECC1C0C935}"/>
              </a:ext>
            </a:extLst>
          </p:cNvPr>
          <p:cNvSpPr>
            <a:spLocks noGrp="1"/>
          </p:cNvSpPr>
          <p:nvPr/>
        </p:nvSpPr>
        <p:spPr>
          <a:xfrm>
            <a:off x="10020300" y="3619500"/>
            <a:ext cx="1247775" cy="4191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Validación</a:t>
            </a:r>
          </a:p>
          <a:p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2026</a:t>
            </a:r>
          </a:p>
        </p:txBody>
      </p:sp>
      <p:sp>
        <p:nvSpPr>
          <p:cNvPr id="38" name="stage-6-sub">
            <a:extLst>
              <a:ext uri="{FF2B5EF4-FFF2-40B4-BE49-F238E27FC236}">
                <a16:creationId xmlns:a16="http://schemas.microsoft.com/office/drawing/2014/main" id="{3029A475-9817-4C69-B168-E77D523F16BF}"/>
              </a:ext>
            </a:extLst>
          </p:cNvPr>
          <p:cNvSpPr>
            <a:spLocks noGrp="1"/>
          </p:cNvSpPr>
          <p:nvPr/>
        </p:nvSpPr>
        <p:spPr>
          <a:xfrm>
            <a:off x="10001250" y="4076700"/>
            <a:ext cx="1285875" cy="1905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D8EAF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EAF5"/>
                </a:solidFill>
                <a:latin typeface="Aptos"/>
                <a:ea typeface="Aptos"/>
                <a:cs typeface="Aptos"/>
              </a:rPr>
              <a:t>Enero–abril</a:t>
            </a:r>
          </a:p>
        </p:txBody>
      </p:sp>
      <p:cxnSp>
        <p:nvCxnSpPr>
          <p:cNvPr id="39" name="stage-connector-1"/>
          <p:cNvCxnSpPr>
            <a:stCxn id="9" idx="3"/>
            <a:endCxn id="14" idx="1"/>
          </p:cNvCxnSpPr>
          <p:nvPr/>
        </p:nvCxnSpPr>
        <p:spPr>
          <a:xfrm>
            <a:off x="2095500" y="3590925"/>
            <a:ext cx="381000" cy="0"/>
          </a:xfrm>
          <a:prstGeom prst="straightConnector1">
            <a:avLst/>
          </a:prstGeom>
          <a:ln w="20955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40" name="stage-connector-2"/>
          <p:cNvCxnSpPr>
            <a:stCxn id="14" idx="3"/>
            <a:endCxn id="19" idx="1"/>
          </p:cNvCxnSpPr>
          <p:nvPr/>
        </p:nvCxnSpPr>
        <p:spPr>
          <a:xfrm>
            <a:off x="3952875" y="3590925"/>
            <a:ext cx="381000" cy="0"/>
          </a:xfrm>
          <a:prstGeom prst="straightConnector1">
            <a:avLst/>
          </a:prstGeom>
          <a:ln w="20955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41" name="stage-connector-3"/>
          <p:cNvCxnSpPr>
            <a:stCxn id="19" idx="3"/>
            <a:endCxn id="24" idx="1"/>
          </p:cNvCxnSpPr>
          <p:nvPr/>
        </p:nvCxnSpPr>
        <p:spPr>
          <a:xfrm>
            <a:off x="5810250" y="3590925"/>
            <a:ext cx="381000" cy="0"/>
          </a:xfrm>
          <a:prstGeom prst="straightConnector1">
            <a:avLst/>
          </a:prstGeom>
          <a:ln w="20955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42" name="stage-connector-4"/>
          <p:cNvCxnSpPr>
            <a:stCxn id="24" idx="3"/>
            <a:endCxn id="29" idx="1"/>
          </p:cNvCxnSpPr>
          <p:nvPr/>
        </p:nvCxnSpPr>
        <p:spPr>
          <a:xfrm>
            <a:off x="7667625" y="3590925"/>
            <a:ext cx="381000" cy="0"/>
          </a:xfrm>
          <a:prstGeom prst="straightConnector1">
            <a:avLst/>
          </a:prstGeom>
          <a:ln w="20955">
            <a:solidFill>
              <a:srgbClr val="2878B5"/>
            </a:solidFill>
            <a:prstDash val="solid"/>
            <a:tailEnd type="arrow" w="med" len="med"/>
          </a:ln>
        </p:spPr>
      </p:cxnSp>
      <p:cxnSp>
        <p:nvCxnSpPr>
          <p:cNvPr id="43" name="stage-connector-5"/>
          <p:cNvCxnSpPr>
            <a:stCxn id="29" idx="3"/>
            <a:endCxn id="34" idx="1"/>
          </p:cNvCxnSpPr>
          <p:nvPr/>
        </p:nvCxnSpPr>
        <p:spPr>
          <a:xfrm>
            <a:off x="9525000" y="3590925"/>
            <a:ext cx="381000" cy="0"/>
          </a:xfrm>
          <a:prstGeom prst="straightConnector1">
            <a:avLst/>
          </a:prstGeom>
          <a:ln w="20955">
            <a:solidFill>
              <a:srgbClr val="2878B5"/>
            </a:solidFill>
            <a:prstDash val="solid"/>
            <a:tailEnd type="arrow" w="med" len="med"/>
          </a:ln>
        </p:spPr>
      </p:cxnSp>
      <p:sp>
        <p:nvSpPr>
          <p:cNvPr id="44" name="comfort-callout">
            <a:extLst>
              <a:ext uri="{FF2B5EF4-FFF2-40B4-BE49-F238E27FC236}">
                <a16:creationId xmlns:a16="http://schemas.microsoft.com/office/drawing/2014/main" id="{C919D8FA-CAC1-4ED6-8836-D60EF6AF74F0}"/>
              </a:ext>
            </a:extLst>
          </p:cNvPr>
          <p:cNvSpPr>
            <a:spLocks noGrp="1"/>
          </p:cNvSpPr>
          <p:nvPr/>
        </p:nvSpPr>
        <p:spPr>
          <a:xfrm>
            <a:off x="2333625" y="2438400"/>
            <a:ext cx="1762125" cy="361950"/>
          </a:xfrm>
          <a:prstGeom prst="roundRect">
            <a:avLst>
              <a:gd name="adj" fmla="val 21053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45" name="Graphic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2476500" y="2524125"/>
            <a:ext cx="190500" cy="190500"/>
          </a:xfrm>
          <a:prstGeom prst="rect">
            <a:avLst/>
          </a:prstGeom>
        </p:spPr>
      </p:pic>
      <p:sp>
        <p:nvSpPr>
          <p:cNvPr id="46" name="comfort-text">
            <a:extLst>
              <a:ext uri="{FF2B5EF4-FFF2-40B4-BE49-F238E27FC236}">
                <a16:creationId xmlns:a16="http://schemas.microsoft.com/office/drawing/2014/main" id="{868BA009-1263-41AF-8159-ADED5CE8AF75}"/>
              </a:ext>
            </a:extLst>
          </p:cNvPr>
          <p:cNvSpPr>
            <a:spLocks noGrp="1"/>
          </p:cNvSpPr>
          <p:nvPr/>
        </p:nvSpPr>
        <p:spPr>
          <a:xfrm>
            <a:off x="2743200" y="2476500"/>
            <a:ext cx="1238250" cy="26670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 dirty="0" err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Confort</a:t>
            </a:r>
            <a:r>
              <a:rPr sz="1050" b="1" dirty="0">
                <a:solidFill>
                  <a:srgbClr val="16324F"/>
                </a:solidFill>
                <a:latin typeface="Aptos"/>
                <a:ea typeface="Aptos"/>
                <a:cs typeface="Aptos"/>
              </a:rPr>
              <a:t> = 20 °C</a:t>
            </a:r>
          </a:p>
        </p:txBody>
      </p:sp>
      <p:sp>
        <p:nvSpPr>
          <p:cNvPr id="47" name="validation-callout">
            <a:extLst>
              <a:ext uri="{FF2B5EF4-FFF2-40B4-BE49-F238E27FC236}">
                <a16:creationId xmlns:a16="http://schemas.microsoft.com/office/drawing/2014/main" id="{13A45CA9-BE29-46C3-8CE0-121626E605BD}"/>
              </a:ext>
            </a:extLst>
          </p:cNvPr>
          <p:cNvSpPr>
            <a:spLocks noGrp="1"/>
          </p:cNvSpPr>
          <p:nvPr/>
        </p:nvSpPr>
        <p:spPr>
          <a:xfrm>
            <a:off x="9763125" y="4438650"/>
            <a:ext cx="1762125" cy="476250"/>
          </a:xfrm>
          <a:prstGeom prst="roundRect">
            <a:avLst>
              <a:gd name="adj" fmla="val 16000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906000" y="4572000"/>
            <a:ext cx="200025" cy="200025"/>
          </a:xfrm>
          <a:prstGeom prst="rect">
            <a:avLst/>
          </a:prstGeom>
        </p:spPr>
      </p:pic>
      <p:sp>
        <p:nvSpPr>
          <p:cNvPr id="49" name="validation-text">
            <a:extLst>
              <a:ext uri="{FF2B5EF4-FFF2-40B4-BE49-F238E27FC236}">
                <a16:creationId xmlns:a16="http://schemas.microsoft.com/office/drawing/2014/main" id="{D115835D-CE3C-46AC-9741-6A636C6583D3}"/>
              </a:ext>
            </a:extLst>
          </p:cNvPr>
          <p:cNvSpPr>
            <a:spLocks noGrp="1"/>
          </p:cNvSpPr>
          <p:nvPr/>
        </p:nvSpPr>
        <p:spPr>
          <a:xfrm>
            <a:off x="10172700" y="4533900"/>
            <a:ext cx="1257300" cy="26670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Enero–abril 2026</a:t>
            </a:r>
          </a:p>
        </p:txBody>
      </p:sp>
      <p:sp>
        <p:nvSpPr>
          <p:cNvPr id="50" name="footer-rule">
            <a:extLst>
              <a:ext uri="{FF2B5EF4-FFF2-40B4-BE49-F238E27FC236}">
                <a16:creationId xmlns:a16="http://schemas.microsoft.com/office/drawing/2014/main" id="{6E44A946-5F0F-443E-880B-DA979169027F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1" name="footer-message">
            <a:extLst>
              <a:ext uri="{FF2B5EF4-FFF2-40B4-BE49-F238E27FC236}">
                <a16:creationId xmlns:a16="http://schemas.microsoft.com/office/drawing/2014/main" id="{C4493C63-5543-48DD-A1A8-0B3139118C73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990600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Del dato horario a una validación mensual fuera de muestra.</a:t>
            </a:r>
          </a:p>
        </p:txBody>
      </p:sp>
      <p:sp>
        <p:nvSpPr>
          <p:cNvPr id="52" name="page-number">
            <a:extLst>
              <a:ext uri="{FF2B5EF4-FFF2-40B4-BE49-F238E27FC236}">
                <a16:creationId xmlns:a16="http://schemas.microsoft.com/office/drawing/2014/main" id="{70E2F381-57EE-4E78-AF5B-2E0CE41F67CD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742950" cy="2857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095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ackground">
            <a:extLst>
              <a:ext uri="{FF2B5EF4-FFF2-40B4-BE49-F238E27FC236}">
                <a16:creationId xmlns:a16="http://schemas.microsoft.com/office/drawing/2014/main" id="{9CA484BF-8EE5-421B-9D60-997D7B09C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42F812A6-372A-4B3A-9171-BBA0E72FF7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25F5A25-F178-448E-B513-0596CBED0667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4E1DEE3-B53A-4D80-A1F4-67860D9547D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2857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EVIDENCIA DESCRIPTIVA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D3B0DF1-BBB8-4281-984E-87D892DB4F96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6096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El consumo acompaña la estacionalidad térmica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99A48D44-20C5-4BAC-A20E-35BCB31E50E8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7810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Los desvíos respecto de la temperatura de confort siguen un patrón estacional visible.</a:t>
            </a:r>
          </a:p>
        </p:txBody>
      </p:sp>
      <p:sp>
        <p:nvSpPr>
          <p:cNvPr id="7" name="left-chart-panel">
            <a:extLst>
              <a:ext uri="{FF2B5EF4-FFF2-40B4-BE49-F238E27FC236}">
                <a16:creationId xmlns:a16="http://schemas.microsoft.com/office/drawing/2014/main" id="{C337632A-327C-4B6E-AE97-4D2C8A1D6B66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552450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right-chart-panel">
            <a:extLst>
              <a:ext uri="{FF2B5EF4-FFF2-40B4-BE49-F238E27FC236}">
                <a16:creationId xmlns:a16="http://schemas.microsoft.com/office/drawing/2014/main" id="{84BD1959-3035-44D9-B70F-BF4351B80EF2}"/>
              </a:ext>
            </a:extLst>
          </p:cNvPr>
          <p:cNvSpPr>
            <a:spLocks noGrp="1"/>
          </p:cNvSpPr>
          <p:nvPr/>
        </p:nvSpPr>
        <p:spPr>
          <a:xfrm>
            <a:off x="6267450" y="1866900"/>
            <a:ext cx="552450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9" name="left-chart-label">
            <a:extLst>
              <a:ext uri="{FF2B5EF4-FFF2-40B4-BE49-F238E27FC236}">
                <a16:creationId xmlns:a16="http://schemas.microsoft.com/office/drawing/2014/main" id="{FA080C69-2ED7-447C-B2F9-6696B762AA11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28575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COMPORTAMIENTO TÉRMICO 2025</a:t>
            </a:r>
          </a:p>
        </p:txBody>
      </p:sp>
      <p:sp>
        <p:nvSpPr>
          <p:cNvPr id="10" name="right-chart-label">
            <a:extLst>
              <a:ext uri="{FF2B5EF4-FFF2-40B4-BE49-F238E27FC236}">
                <a16:creationId xmlns:a16="http://schemas.microsoft.com/office/drawing/2014/main" id="{7D12FE50-62D8-4BEA-85CB-824774735771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314325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CONSUMO VS. DESVÍO TÉRMICO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2438400"/>
            <a:ext cx="5143500" cy="2057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00888" y="2286000"/>
            <a:ext cx="3857625" cy="2571750"/>
          </a:xfrm>
          <a:prstGeom prst="rect">
            <a:avLst/>
          </a:prstGeom>
        </p:spPr>
      </p:pic>
      <p:sp>
        <p:nvSpPr>
          <p:cNvPr id="13" name="cold-pill">
            <a:extLst>
              <a:ext uri="{FF2B5EF4-FFF2-40B4-BE49-F238E27FC236}">
                <a16:creationId xmlns:a16="http://schemas.microsoft.com/office/drawing/2014/main" id="{6804C80A-776F-4B3C-AF78-C044DF826AA6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2362200" cy="266700"/>
          </a:xfrm>
          <a:prstGeom prst="roundRect">
            <a:avLst>
              <a:gd name="adj" fmla="val 28571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4" name="cold-pill-text">
            <a:extLst>
              <a:ext uri="{FF2B5EF4-FFF2-40B4-BE49-F238E27FC236}">
                <a16:creationId xmlns:a16="http://schemas.microsoft.com/office/drawing/2014/main" id="{3CB34403-33DE-4331-B821-939BDDE0C4EB}"/>
              </a:ext>
            </a:extLst>
          </p:cNvPr>
          <p:cNvSpPr>
            <a:spLocks noGrp="1"/>
          </p:cNvSpPr>
          <p:nvPr/>
        </p:nvSpPr>
        <p:spPr>
          <a:xfrm>
            <a:off x="800100" y="4733925"/>
            <a:ext cx="2133600" cy="2095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E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1"/>
                </a:solidFill>
                <a:latin typeface="Aptos"/>
                <a:ea typeface="Aptos"/>
                <a:cs typeface="Aptos"/>
              </a:rPr>
              <a:t>CDD domina en meses fríos</a:t>
            </a:r>
          </a:p>
        </p:txBody>
      </p:sp>
      <p:sp>
        <p:nvSpPr>
          <p:cNvPr id="15" name="warm-pill">
            <a:extLst>
              <a:ext uri="{FF2B5EF4-FFF2-40B4-BE49-F238E27FC236}">
                <a16:creationId xmlns:a16="http://schemas.microsoft.com/office/drawing/2014/main" id="{D6A61CE1-29E4-416C-BF88-46BFB4FEFA8E}"/>
              </a:ext>
            </a:extLst>
          </p:cNvPr>
          <p:cNvSpPr>
            <a:spLocks noGrp="1"/>
          </p:cNvSpPr>
          <p:nvPr/>
        </p:nvSpPr>
        <p:spPr>
          <a:xfrm>
            <a:off x="3181350" y="4705350"/>
            <a:ext cx="2362200" cy="266700"/>
          </a:xfrm>
          <a:prstGeom prst="roundRect">
            <a:avLst>
              <a:gd name="adj" fmla="val 28571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6" name="warm-pill-text">
            <a:extLst>
              <a:ext uri="{FF2B5EF4-FFF2-40B4-BE49-F238E27FC236}">
                <a16:creationId xmlns:a16="http://schemas.microsoft.com/office/drawing/2014/main" id="{5738AB55-7930-48A4-A5C7-C43D21257AA6}"/>
              </a:ext>
            </a:extLst>
          </p:cNvPr>
          <p:cNvSpPr>
            <a:spLocks noGrp="1"/>
          </p:cNvSpPr>
          <p:nvPr/>
        </p:nvSpPr>
        <p:spPr>
          <a:xfrm>
            <a:off x="3295650" y="4733925"/>
            <a:ext cx="2133600" cy="2095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HDD domina en meses cálidos</a:t>
            </a:r>
          </a:p>
        </p:txBody>
      </p:sp>
      <p:sp>
        <p:nvSpPr>
          <p:cNvPr id="17" name="key-message">
            <a:extLst>
              <a:ext uri="{FF2B5EF4-FFF2-40B4-BE49-F238E27FC236}">
                <a16:creationId xmlns:a16="http://schemas.microsoft.com/office/drawing/2014/main" id="{527EDA6A-C366-4A47-A518-78C133CFE9FB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11391900" cy="571500"/>
          </a:xfrm>
          <a:prstGeom prst="roundRect">
            <a:avLst>
              <a:gd name="adj" fmla="val 13333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8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6750" y="5467350"/>
            <a:ext cx="266700" cy="266700"/>
          </a:xfrm>
          <a:prstGeom prst="rect">
            <a:avLst/>
          </a:prstGeom>
        </p:spPr>
      </p:pic>
      <p:sp>
        <p:nvSpPr>
          <p:cNvPr id="19" name="key-message-text">
            <a:extLst>
              <a:ext uri="{FF2B5EF4-FFF2-40B4-BE49-F238E27FC236}">
                <a16:creationId xmlns:a16="http://schemas.microsoft.com/office/drawing/2014/main" id="{8422D158-3A6B-4AA6-AB81-949A800F126E}"/>
              </a:ext>
            </a:extLst>
          </p:cNvPr>
          <p:cNvSpPr>
            <a:spLocks noGrp="1"/>
          </p:cNvSpPr>
          <p:nvPr/>
        </p:nvSpPr>
        <p:spPr>
          <a:xfrm>
            <a:off x="1104900" y="5410200"/>
            <a:ext cx="10287000" cy="3810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Los desvíos térmicos explican una parte importante de la variación mensual del consumo.</a:t>
            </a:r>
          </a:p>
        </p:txBody>
      </p:sp>
      <p:sp>
        <p:nvSpPr>
          <p:cNvPr id="20" name="peak-badge">
            <a:extLst>
              <a:ext uri="{FF2B5EF4-FFF2-40B4-BE49-F238E27FC236}">
                <a16:creationId xmlns:a16="http://schemas.microsoft.com/office/drawing/2014/main" id="{25144797-123B-4EA1-BB09-FBC8CF1208A5}"/>
              </a:ext>
            </a:extLst>
          </p:cNvPr>
          <p:cNvSpPr>
            <a:spLocks noGrp="1"/>
          </p:cNvSpPr>
          <p:nvPr/>
        </p:nvSpPr>
        <p:spPr>
          <a:xfrm>
            <a:off x="9410700" y="1314450"/>
            <a:ext cx="2381250" cy="457200"/>
          </a:xfrm>
          <a:prstGeom prst="roundRect">
            <a:avLst>
              <a:gd name="adj" fmla="val 16667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1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582150" y="1438275"/>
            <a:ext cx="209550" cy="209550"/>
          </a:xfrm>
          <a:prstGeom prst="rect">
            <a:avLst/>
          </a:prstGeom>
        </p:spPr>
      </p:pic>
      <p:sp>
        <p:nvSpPr>
          <p:cNvPr id="22" name="peak-text">
            <a:extLst>
              <a:ext uri="{FF2B5EF4-FFF2-40B4-BE49-F238E27FC236}">
                <a16:creationId xmlns:a16="http://schemas.microsoft.com/office/drawing/2014/main" id="{7C73AE89-4E39-4203-A7E5-C6D3A93B90CF}"/>
              </a:ext>
            </a:extLst>
          </p:cNvPr>
          <p:cNvSpPr>
            <a:spLocks noGrp="1"/>
          </p:cNvSpPr>
          <p:nvPr/>
        </p:nvSpPr>
        <p:spPr>
          <a:xfrm>
            <a:off x="9886950" y="1409700"/>
            <a:ext cx="1752600" cy="2476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Pico: julio · 30,65 GWh</a:t>
            </a:r>
          </a:p>
        </p:txBody>
      </p:sp>
      <p:sp>
        <p:nvSpPr>
          <p:cNvPr id="23" name="footer-rule">
            <a:extLst>
              <a:ext uri="{FF2B5EF4-FFF2-40B4-BE49-F238E27FC236}">
                <a16:creationId xmlns:a16="http://schemas.microsoft.com/office/drawing/2014/main" id="{7C4361B3-8BF4-4C6C-AC28-6E6B4FD1DAAA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4" name="footer-message">
            <a:extLst>
              <a:ext uri="{FF2B5EF4-FFF2-40B4-BE49-F238E27FC236}">
                <a16:creationId xmlns:a16="http://schemas.microsoft.com/office/drawing/2014/main" id="{D64E9C93-07D7-4847-BCC2-8098A65D3D6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99060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En invierno se concentró el máximo consumo observado durante 2025.</a:t>
            </a:r>
          </a:p>
        </p:txBody>
      </p:sp>
      <p:sp>
        <p:nvSpPr>
          <p:cNvPr id="25" name="page-number">
            <a:extLst>
              <a:ext uri="{FF2B5EF4-FFF2-40B4-BE49-F238E27FC236}">
                <a16:creationId xmlns:a16="http://schemas.microsoft.com/office/drawing/2014/main" id="{5B313C42-5BD7-4FE1-A15D-6D5FADC46086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74295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7448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31F9E98C-3226-4C7D-95DB-F34869BCC6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A2653523-EF29-4803-A37D-EBB8B005A8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B088BC59-13EC-445B-B7B0-A3B6722D7735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1D000F5-C82F-48DA-9536-8D4783BA704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314325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COMPARACIÓN DE MODELOS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94DD97E1-89C5-4A02-946B-62F4076DBC00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668000" cy="5524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Tres formas de representar el efecto térmico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C78F1510-9D60-4AFB-9378-B7B06B8A671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87630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especificación separada de HDD y CDD ofrece la mayor capacidad explicativa.</a:t>
            </a:r>
          </a:p>
        </p:txBody>
      </p:sp>
      <p:sp>
        <p:nvSpPr>
          <p:cNvPr id="7" name="model-1-card">
            <a:extLst>
              <a:ext uri="{FF2B5EF4-FFF2-40B4-BE49-F238E27FC236}">
                <a16:creationId xmlns:a16="http://schemas.microsoft.com/office/drawing/2014/main" id="{1F411B8A-5F05-4E95-8F56-53DB0A23DEE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28575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model-1-head">
            <a:extLst>
              <a:ext uri="{FF2B5EF4-FFF2-40B4-BE49-F238E27FC236}">
                <a16:creationId xmlns:a16="http://schemas.microsoft.com/office/drawing/2014/main" id="{AC1FD3A4-9561-4927-ADA2-AB2F6224F5F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552450"/>
          </a:xfrm>
          <a:prstGeom prst="roundRect">
            <a:avLst>
              <a:gd name="adj" fmla="val 13793"/>
            </a:avLst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1952625"/>
            <a:ext cx="257175" cy="257175"/>
          </a:xfrm>
          <a:prstGeom prst="rect">
            <a:avLst/>
          </a:prstGeom>
        </p:spPr>
      </p:pic>
      <p:sp>
        <p:nvSpPr>
          <p:cNvPr id="10" name="model-1-title">
            <a:extLst>
              <a:ext uri="{FF2B5EF4-FFF2-40B4-BE49-F238E27FC236}">
                <a16:creationId xmlns:a16="http://schemas.microsoft.com/office/drawing/2014/main" id="{A593EB42-4BFF-4D77-AEA4-D72C741E18DF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238250" cy="285750"/>
          </a:xfrm>
          <a:prstGeom prst="rect">
            <a:avLst/>
          </a:prstGeom>
          <a:ln w="0">
            <a:solidFill>
              <a:srgbClr val="2878B5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1</a:t>
            </a:r>
          </a:p>
        </p:txBody>
      </p:sp>
      <p:sp>
        <p:nvSpPr>
          <p:cNvPr id="11" name="selected-badge">
            <a:extLst>
              <a:ext uri="{FF2B5EF4-FFF2-40B4-BE49-F238E27FC236}">
                <a16:creationId xmlns:a16="http://schemas.microsoft.com/office/drawing/2014/main" id="{84276B08-FFD4-4C10-8303-22AC71CF082A}"/>
              </a:ext>
            </a:extLst>
          </p:cNvPr>
          <p:cNvSpPr>
            <a:spLocks noGrp="1"/>
          </p:cNvSpPr>
          <p:nvPr/>
        </p:nvSpPr>
        <p:spPr>
          <a:xfrm>
            <a:off x="2305050" y="1952625"/>
            <a:ext cx="1447800" cy="266700"/>
          </a:xfrm>
          <a:prstGeom prst="roundRect">
            <a:avLst>
              <a:gd name="adj" fmla="val 28571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2" name="selected-badge-text">
            <a:extLst>
              <a:ext uri="{FF2B5EF4-FFF2-40B4-BE49-F238E27FC236}">
                <a16:creationId xmlns:a16="http://schemas.microsoft.com/office/drawing/2014/main" id="{6D650E85-7519-439C-8503-76202ED7BCEE}"/>
              </a:ext>
            </a:extLst>
          </p:cNvPr>
          <p:cNvSpPr>
            <a:spLocks noGrp="1"/>
          </p:cNvSpPr>
          <p:nvPr/>
        </p:nvSpPr>
        <p:spPr>
          <a:xfrm>
            <a:off x="2381250" y="1981200"/>
            <a:ext cx="1295400" cy="2095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MODELO SELECCIONADO</a:t>
            </a:r>
          </a:p>
        </p:txBody>
      </p:sp>
      <p:sp>
        <p:nvSpPr>
          <p:cNvPr id="13" name="model-1-label">
            <a:extLst>
              <a:ext uri="{FF2B5EF4-FFF2-40B4-BE49-F238E27FC236}">
                <a16:creationId xmlns:a16="http://schemas.microsoft.com/office/drawing/2014/main" id="{8B070ED9-D469-4390-B63E-961DADD5A7E8}"/>
              </a:ext>
            </a:extLst>
          </p:cNvPr>
          <p:cNvSpPr>
            <a:spLocks noGrp="1"/>
          </p:cNvSpPr>
          <p:nvPr/>
        </p:nvSpPr>
        <p:spPr>
          <a:xfrm>
            <a:off x="628650" y="2581275"/>
            <a:ext cx="1143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IDEA CENTRAL</a:t>
            </a:r>
          </a:p>
        </p:txBody>
      </p:sp>
      <p:sp>
        <p:nvSpPr>
          <p:cNvPr id="14" name="model-1-idea">
            <a:extLst>
              <a:ext uri="{FF2B5EF4-FFF2-40B4-BE49-F238E27FC236}">
                <a16:creationId xmlns:a16="http://schemas.microsoft.com/office/drawing/2014/main" id="{6A3E0E16-DB73-4AAD-8EB9-BAC43F8D2422}"/>
              </a:ext>
            </a:extLst>
          </p:cNvPr>
          <p:cNvSpPr>
            <a:spLocks noGrp="1"/>
          </p:cNvSpPr>
          <p:nvPr/>
        </p:nvSpPr>
        <p:spPr>
          <a:xfrm>
            <a:off x="628650" y="2838450"/>
            <a:ext cx="2857500" cy="5334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HDD y CDD</a:t>
            </a:r>
          </a:p>
          <a:p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separados</a:t>
            </a:r>
          </a:p>
        </p:txBody>
      </p:sp>
      <p:sp>
        <p:nvSpPr>
          <p:cNvPr id="15" name="model-1-rule">
            <a:extLst>
              <a:ext uri="{FF2B5EF4-FFF2-40B4-BE49-F238E27FC236}">
                <a16:creationId xmlns:a16="http://schemas.microsoft.com/office/drawing/2014/main" id="{19995B57-1AFE-405C-8149-17E2CA847150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287655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6" name="model-1-r2-label">
            <a:extLst>
              <a:ext uri="{FF2B5EF4-FFF2-40B4-BE49-F238E27FC236}">
                <a16:creationId xmlns:a16="http://schemas.microsoft.com/office/drawing/2014/main" id="{E0B244C9-3C08-44DA-8347-1341D49C9C7F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666750" cy="2667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17" name="model-1-r2">
            <a:extLst>
              <a:ext uri="{FF2B5EF4-FFF2-40B4-BE49-F238E27FC236}">
                <a16:creationId xmlns:a16="http://schemas.microsoft.com/office/drawing/2014/main" id="{A89A88AF-4803-4C29-BC7E-9EFAB2A83001}"/>
              </a:ext>
            </a:extLst>
          </p:cNvPr>
          <p:cNvSpPr>
            <a:spLocks noGrp="1"/>
          </p:cNvSpPr>
          <p:nvPr/>
        </p:nvSpPr>
        <p:spPr>
          <a:xfrm>
            <a:off x="1162050" y="3552825"/>
            <a:ext cx="2324100" cy="4000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40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0,8572</a:t>
            </a:r>
          </a:p>
        </p:txBody>
      </p:sp>
      <p:sp>
        <p:nvSpPr>
          <p:cNvPr id="18" name="model-2-card">
            <a:extLst>
              <a:ext uri="{FF2B5EF4-FFF2-40B4-BE49-F238E27FC236}">
                <a16:creationId xmlns:a16="http://schemas.microsoft.com/office/drawing/2014/main" id="{E8A2EF4B-CF84-4207-AB08-5C2BE5F468C8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143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9" name="model-2-head">
            <a:extLst>
              <a:ext uri="{FF2B5EF4-FFF2-40B4-BE49-F238E27FC236}">
                <a16:creationId xmlns:a16="http://schemas.microsoft.com/office/drawing/2014/main" id="{C9742BDC-72F4-4A48-990F-6C2FEB3FF50A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552450"/>
          </a:xfrm>
          <a:prstGeom prst="roundRect">
            <a:avLst>
              <a:gd name="adj" fmla="val 13793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0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33900" y="1952625"/>
            <a:ext cx="257175" cy="257175"/>
          </a:xfrm>
          <a:prstGeom prst="rect">
            <a:avLst/>
          </a:prstGeom>
        </p:spPr>
      </p:pic>
      <p:sp>
        <p:nvSpPr>
          <p:cNvPr id="21" name="model-2-title">
            <a:extLst>
              <a:ext uri="{FF2B5EF4-FFF2-40B4-BE49-F238E27FC236}">
                <a16:creationId xmlns:a16="http://schemas.microsoft.com/office/drawing/2014/main" id="{4C48DF49-A7DD-4F82-AF0E-351FB4AD7098}"/>
              </a:ext>
            </a:extLst>
          </p:cNvPr>
          <p:cNvSpPr>
            <a:spLocks noGrp="1"/>
          </p:cNvSpPr>
          <p:nvPr/>
        </p:nvSpPr>
        <p:spPr>
          <a:xfrm>
            <a:off x="4914900" y="1924050"/>
            <a:ext cx="1714500" cy="2857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Modelo 2</a:t>
            </a:r>
          </a:p>
        </p:txBody>
      </p:sp>
      <p:sp>
        <p:nvSpPr>
          <p:cNvPr id="22" name="model-2-label">
            <a:extLst>
              <a:ext uri="{FF2B5EF4-FFF2-40B4-BE49-F238E27FC236}">
                <a16:creationId xmlns:a16="http://schemas.microsoft.com/office/drawing/2014/main" id="{110CAEBA-C177-4F61-B9D8-9DBAA0EC61FB}"/>
              </a:ext>
            </a:extLst>
          </p:cNvPr>
          <p:cNvSpPr>
            <a:spLocks noGrp="1"/>
          </p:cNvSpPr>
          <p:nvPr/>
        </p:nvSpPr>
        <p:spPr>
          <a:xfrm>
            <a:off x="4552950" y="2581275"/>
            <a:ext cx="1143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IDEA CENTRAL</a:t>
            </a:r>
          </a:p>
        </p:txBody>
      </p:sp>
      <p:sp>
        <p:nvSpPr>
          <p:cNvPr id="23" name="model-2-idea">
            <a:extLst>
              <a:ext uri="{FF2B5EF4-FFF2-40B4-BE49-F238E27FC236}">
                <a16:creationId xmlns:a16="http://schemas.microsoft.com/office/drawing/2014/main" id="{1ED6252A-7955-40E2-9176-F16AE58A0748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57500" cy="5334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HDD + CDD</a:t>
            </a:r>
          </a:p>
          <a:p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agregado</a:t>
            </a:r>
          </a:p>
        </p:txBody>
      </p:sp>
      <p:sp>
        <p:nvSpPr>
          <p:cNvPr id="24" name="model-2-rule">
            <a:extLst>
              <a:ext uri="{FF2B5EF4-FFF2-40B4-BE49-F238E27FC236}">
                <a16:creationId xmlns:a16="http://schemas.microsoft.com/office/drawing/2014/main" id="{81F2873F-D6F4-4AD3-BA5B-C2F3164273D1}"/>
              </a:ext>
            </a:extLst>
          </p:cNvPr>
          <p:cNvSpPr>
            <a:spLocks noGrp="1"/>
          </p:cNvSpPr>
          <p:nvPr/>
        </p:nvSpPr>
        <p:spPr>
          <a:xfrm>
            <a:off x="4552950" y="3476625"/>
            <a:ext cx="287655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5" name="model-2-r2-label">
            <a:extLst>
              <a:ext uri="{FF2B5EF4-FFF2-40B4-BE49-F238E27FC236}">
                <a16:creationId xmlns:a16="http://schemas.microsoft.com/office/drawing/2014/main" id="{2133C677-3917-42BB-A07A-2E1BC06E35EB}"/>
              </a:ext>
            </a:extLst>
          </p:cNvPr>
          <p:cNvSpPr>
            <a:spLocks noGrp="1"/>
          </p:cNvSpPr>
          <p:nvPr/>
        </p:nvSpPr>
        <p:spPr>
          <a:xfrm>
            <a:off x="4552950" y="3638550"/>
            <a:ext cx="666750" cy="2667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26" name="model-2-r2">
            <a:extLst>
              <a:ext uri="{FF2B5EF4-FFF2-40B4-BE49-F238E27FC236}">
                <a16:creationId xmlns:a16="http://schemas.microsoft.com/office/drawing/2014/main" id="{B4EAD966-26E2-42E6-B3A6-C3A12B891393}"/>
              </a:ext>
            </a:extLst>
          </p:cNvPr>
          <p:cNvSpPr>
            <a:spLocks noGrp="1"/>
          </p:cNvSpPr>
          <p:nvPr/>
        </p:nvSpPr>
        <p:spPr>
          <a:xfrm>
            <a:off x="5086350" y="3552825"/>
            <a:ext cx="2324100" cy="4000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0,8390</a:t>
            </a:r>
          </a:p>
        </p:txBody>
      </p:sp>
      <p:sp>
        <p:nvSpPr>
          <p:cNvPr id="27" name="model-3-card">
            <a:extLst>
              <a:ext uri="{FF2B5EF4-FFF2-40B4-BE49-F238E27FC236}">
                <a16:creationId xmlns:a16="http://schemas.microsoft.com/office/drawing/2014/main" id="{1F1F8ACF-3061-4C0B-A5E9-8DDF25F85B1F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143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8" name="model-3-head">
            <a:extLst>
              <a:ext uri="{FF2B5EF4-FFF2-40B4-BE49-F238E27FC236}">
                <a16:creationId xmlns:a16="http://schemas.microsoft.com/office/drawing/2014/main" id="{13B37249-079C-4120-B1C3-DD1D6A52BEBA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552450"/>
          </a:xfrm>
          <a:prstGeom prst="roundRect">
            <a:avLst>
              <a:gd name="adj" fmla="val 13793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9" name="Graphic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458200" y="1952625"/>
            <a:ext cx="257175" cy="257175"/>
          </a:xfrm>
          <a:prstGeom prst="rect">
            <a:avLst/>
          </a:prstGeom>
        </p:spPr>
      </p:pic>
      <p:sp>
        <p:nvSpPr>
          <p:cNvPr id="30" name="model-3-title">
            <a:extLst>
              <a:ext uri="{FF2B5EF4-FFF2-40B4-BE49-F238E27FC236}">
                <a16:creationId xmlns:a16="http://schemas.microsoft.com/office/drawing/2014/main" id="{0DE23CB2-E820-4817-8943-139818BE10B7}"/>
              </a:ext>
            </a:extLst>
          </p:cNvPr>
          <p:cNvSpPr>
            <a:spLocks noGrp="1"/>
          </p:cNvSpPr>
          <p:nvPr/>
        </p:nvSpPr>
        <p:spPr>
          <a:xfrm>
            <a:off x="8839200" y="1924050"/>
            <a:ext cx="1714500" cy="2857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Modelo 3</a:t>
            </a:r>
          </a:p>
        </p:txBody>
      </p:sp>
      <p:sp>
        <p:nvSpPr>
          <p:cNvPr id="31" name="model-3-label">
            <a:extLst>
              <a:ext uri="{FF2B5EF4-FFF2-40B4-BE49-F238E27FC236}">
                <a16:creationId xmlns:a16="http://schemas.microsoft.com/office/drawing/2014/main" id="{EB496E15-795D-4910-A7E1-DD01F2F87F0B}"/>
              </a:ext>
            </a:extLst>
          </p:cNvPr>
          <p:cNvSpPr>
            <a:spLocks noGrp="1"/>
          </p:cNvSpPr>
          <p:nvPr/>
        </p:nvSpPr>
        <p:spPr>
          <a:xfrm>
            <a:off x="8477250" y="2581275"/>
            <a:ext cx="1143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IDEA CENTRAL</a:t>
            </a:r>
          </a:p>
        </p:txBody>
      </p:sp>
      <p:sp>
        <p:nvSpPr>
          <p:cNvPr id="32" name="model-3-idea">
            <a:extLst>
              <a:ext uri="{FF2B5EF4-FFF2-40B4-BE49-F238E27FC236}">
                <a16:creationId xmlns:a16="http://schemas.microsoft.com/office/drawing/2014/main" id="{5366013E-A371-4EB2-863A-D44544B8FC61}"/>
              </a:ext>
            </a:extLst>
          </p:cNvPr>
          <p:cNvSpPr>
            <a:spLocks noGrp="1"/>
          </p:cNvSpPr>
          <p:nvPr/>
        </p:nvSpPr>
        <p:spPr>
          <a:xfrm>
            <a:off x="8477250" y="2838450"/>
            <a:ext cx="2857500" cy="5334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Variable térmica</a:t>
            </a:r>
          </a:p>
          <a:p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estacional</a:t>
            </a:r>
          </a:p>
        </p:txBody>
      </p:sp>
      <p:sp>
        <p:nvSpPr>
          <p:cNvPr id="33" name="model-3-rule">
            <a:extLst>
              <a:ext uri="{FF2B5EF4-FFF2-40B4-BE49-F238E27FC236}">
                <a16:creationId xmlns:a16="http://schemas.microsoft.com/office/drawing/2014/main" id="{5706FDE1-D937-46E8-B236-76EA9BA7E1C9}"/>
              </a:ext>
            </a:extLst>
          </p:cNvPr>
          <p:cNvSpPr>
            <a:spLocks noGrp="1"/>
          </p:cNvSpPr>
          <p:nvPr/>
        </p:nvSpPr>
        <p:spPr>
          <a:xfrm>
            <a:off x="8477250" y="3476625"/>
            <a:ext cx="287655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4" name="model-3-r2-label">
            <a:extLst>
              <a:ext uri="{FF2B5EF4-FFF2-40B4-BE49-F238E27FC236}">
                <a16:creationId xmlns:a16="http://schemas.microsoft.com/office/drawing/2014/main" id="{AF60D4F2-31A8-4E17-BFB8-390F0708CA29}"/>
              </a:ext>
            </a:extLst>
          </p:cNvPr>
          <p:cNvSpPr>
            <a:spLocks noGrp="1"/>
          </p:cNvSpPr>
          <p:nvPr/>
        </p:nvSpPr>
        <p:spPr>
          <a:xfrm>
            <a:off x="8477250" y="3638550"/>
            <a:ext cx="666750" cy="2667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35" name="model-3-r2">
            <a:extLst>
              <a:ext uri="{FF2B5EF4-FFF2-40B4-BE49-F238E27FC236}">
                <a16:creationId xmlns:a16="http://schemas.microsoft.com/office/drawing/2014/main" id="{0087CEA8-E0EE-44C2-B22C-0E9A3A39361B}"/>
              </a:ext>
            </a:extLst>
          </p:cNvPr>
          <p:cNvSpPr>
            <a:spLocks noGrp="1"/>
          </p:cNvSpPr>
          <p:nvPr/>
        </p:nvSpPr>
        <p:spPr>
          <a:xfrm>
            <a:off x="9010650" y="3552825"/>
            <a:ext cx="2324100" cy="4000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4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0,7736</a:t>
            </a:r>
          </a:p>
        </p:txBody>
      </p:sp>
      <p:sp>
        <p:nvSpPr>
          <p:cNvPr id="36" name="equation-block">
            <a:extLst>
              <a:ext uri="{FF2B5EF4-FFF2-40B4-BE49-F238E27FC236}">
                <a16:creationId xmlns:a16="http://schemas.microsoft.com/office/drawing/2014/main" id="{2DAD3F95-E8BA-47B1-A329-3BD9C590D31D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11391900" cy="685800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7" name="equation-label">
            <a:extLst>
              <a:ext uri="{FF2B5EF4-FFF2-40B4-BE49-F238E27FC236}">
                <a16:creationId xmlns:a16="http://schemas.microsoft.com/office/drawing/2014/main" id="{7DF81109-D08D-4D46-8CDB-BEBD5E8E2622}"/>
              </a:ext>
            </a:extLst>
          </p:cNvPr>
          <p:cNvSpPr>
            <a:spLocks noGrp="1"/>
          </p:cNvSpPr>
          <p:nvPr/>
        </p:nvSpPr>
        <p:spPr>
          <a:xfrm>
            <a:off x="628650" y="4533900"/>
            <a:ext cx="2000250" cy="4000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MODELO SELECCIONADO</a:t>
            </a:r>
          </a:p>
        </p:txBody>
      </p:sp>
      <p:sp>
        <p:nvSpPr>
          <p:cNvPr id="38" name="equation-divider">
            <a:extLst>
              <a:ext uri="{FF2B5EF4-FFF2-40B4-BE49-F238E27FC236}">
                <a16:creationId xmlns:a16="http://schemas.microsoft.com/office/drawing/2014/main" id="{00F7A59F-BAF9-48F5-83FA-1F7015E19FE6}"/>
              </a:ext>
            </a:extLst>
          </p:cNvPr>
          <p:cNvSpPr>
            <a:spLocks noGrp="1"/>
          </p:cNvSpPr>
          <p:nvPr/>
        </p:nvSpPr>
        <p:spPr>
          <a:xfrm>
            <a:off x="2724150" y="4552950"/>
            <a:ext cx="9525" cy="381000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equation">
            <a:extLst>
              <a:ext uri="{FF2B5EF4-FFF2-40B4-BE49-F238E27FC236}">
                <a16:creationId xmlns:a16="http://schemas.microsoft.com/office/drawing/2014/main" id="{B1D2024F-A621-4F92-91BA-38EC4C10BB6C}"/>
              </a:ext>
            </a:extLst>
          </p:cNvPr>
          <p:cNvSpPr>
            <a:spLocks noGrp="1"/>
          </p:cNvSpPr>
          <p:nvPr/>
        </p:nvSpPr>
        <p:spPr>
          <a:xfrm>
            <a:off x="3028950" y="4476750"/>
            <a:ext cx="8382000" cy="4762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ctr">
              <a:defRPr sz="202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Ĉ(t) = 15,3351 + 1,5264·HDD(t) + 1,7062·CDD(t)</a:t>
            </a:r>
          </a:p>
        </p:txBody>
      </p:sp>
      <p:sp>
        <p:nvSpPr>
          <p:cNvPr id="40" name="key-message">
            <a:extLst>
              <a:ext uri="{FF2B5EF4-FFF2-40B4-BE49-F238E27FC236}">
                <a16:creationId xmlns:a16="http://schemas.microsoft.com/office/drawing/2014/main" id="{EC35E9B3-49CB-4082-AD7D-4FA45CACB179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11391900" cy="571500"/>
          </a:xfrm>
          <a:prstGeom prst="roundRect">
            <a:avLst>
              <a:gd name="adj" fmla="val 13333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41" name="Graphic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750" y="5429250"/>
            <a:ext cx="266700" cy="266700"/>
          </a:xfrm>
          <a:prstGeom prst="rect">
            <a:avLst/>
          </a:prstGeom>
        </p:spPr>
      </p:pic>
      <p:sp>
        <p:nvSpPr>
          <p:cNvPr id="42" name="key-message-text">
            <a:extLst>
              <a:ext uri="{FF2B5EF4-FFF2-40B4-BE49-F238E27FC236}">
                <a16:creationId xmlns:a16="http://schemas.microsoft.com/office/drawing/2014/main" id="{EE0CED9B-F499-43BD-A73B-E2FE692AA666}"/>
              </a:ext>
            </a:extLst>
          </p:cNvPr>
          <p:cNvSpPr>
            <a:spLocks noGrp="1"/>
          </p:cNvSpPr>
          <p:nvPr/>
        </p:nvSpPr>
        <p:spPr>
          <a:xfrm>
            <a:off x="1104900" y="5372100"/>
            <a:ext cx="10287000" cy="3810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modelo que considera HDD y CDD por separado obtuvo la mejor capacidad explicativa.</a:t>
            </a:r>
          </a:p>
        </p:txBody>
      </p:sp>
      <p:sp>
        <p:nvSpPr>
          <p:cNvPr id="43" name="footer-rule">
            <a:extLst>
              <a:ext uri="{FF2B5EF4-FFF2-40B4-BE49-F238E27FC236}">
                <a16:creationId xmlns:a16="http://schemas.microsoft.com/office/drawing/2014/main" id="{56FC8A0E-BA8E-4842-B9AE-5A7E77B26294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footer-message">
            <a:extLst>
              <a:ext uri="{FF2B5EF4-FFF2-40B4-BE49-F238E27FC236}">
                <a16:creationId xmlns:a16="http://schemas.microsoft.com/office/drawing/2014/main" id="{FB5397DA-EC6D-4AA6-B163-9D352B3ED4A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99060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La comparación conserva la interpretabilidad del efecto térmico.</a:t>
            </a:r>
          </a:p>
        </p:txBody>
      </p:sp>
      <p:sp>
        <p:nvSpPr>
          <p:cNvPr id="45" name="page-number">
            <a:extLst>
              <a:ext uri="{FF2B5EF4-FFF2-40B4-BE49-F238E27FC236}">
                <a16:creationId xmlns:a16="http://schemas.microsoft.com/office/drawing/2014/main" id="{AB73823E-C5E1-4227-BB51-6C46F9516F0E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74295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702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ckground">
            <a:extLst>
              <a:ext uri="{FF2B5EF4-FFF2-40B4-BE49-F238E27FC236}">
                <a16:creationId xmlns:a16="http://schemas.microsoft.com/office/drawing/2014/main" id="{1219312E-AE7F-4F45-9365-6A2DFEEBB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691BC4A1-29E6-4B09-B9FE-912751AD6E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828258D-BDF8-459F-8D9D-CD962C1839A4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262EE757-75D1-427D-B664-689F71D3133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314325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DESEMPEÑO IN-SAMPLE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61698CA-DD64-469D-AC7B-3039C6E8A2C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382000" cy="5524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Buen ajuste in-sample del modelo térmico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B76A163-A4BF-417A-A8CE-2F22D292577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7810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regresión lineal múltiple reproduce el comportamiento observado durante 2025.</a:t>
            </a:r>
          </a:p>
        </p:txBody>
      </p:sp>
      <p:sp>
        <p:nvSpPr>
          <p:cNvPr id="7" name="r2-card">
            <a:extLst>
              <a:ext uri="{FF2B5EF4-FFF2-40B4-BE49-F238E27FC236}">
                <a16:creationId xmlns:a16="http://schemas.microsoft.com/office/drawing/2014/main" id="{4AAFC93D-C80E-4E8F-B85E-D666A31E4797}"/>
              </a:ext>
            </a:extLst>
          </p:cNvPr>
          <p:cNvSpPr>
            <a:spLocks noGrp="1"/>
          </p:cNvSpPr>
          <p:nvPr/>
        </p:nvSpPr>
        <p:spPr>
          <a:xfrm>
            <a:off x="9525000" y="590550"/>
            <a:ext cx="2266950" cy="952500"/>
          </a:xfrm>
          <a:prstGeom prst="roundRect">
            <a:avLst>
              <a:gd name="adj" fmla="val 8000"/>
            </a:avLst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r2-label">
            <a:extLst>
              <a:ext uri="{FF2B5EF4-FFF2-40B4-BE49-F238E27FC236}">
                <a16:creationId xmlns:a16="http://schemas.microsoft.com/office/drawing/2014/main" id="{4F7BCFD1-4B57-43E4-A477-053136D52BD8}"/>
              </a:ext>
            </a:extLst>
          </p:cNvPr>
          <p:cNvSpPr>
            <a:spLocks noGrp="1"/>
          </p:cNvSpPr>
          <p:nvPr/>
        </p:nvSpPr>
        <p:spPr>
          <a:xfrm>
            <a:off x="9734550" y="714375"/>
            <a:ext cx="1809750" cy="228600"/>
          </a:xfrm>
          <a:prstGeom prst="rect">
            <a:avLst/>
          </a:prstGeom>
          <a:ln w="0">
            <a:solidFill>
              <a:srgbClr val="2878B5"/>
            </a:solidFill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CAPACIDAD EXPLICATIVA</a:t>
            </a:r>
          </a:p>
        </p:txBody>
      </p:sp>
      <p:sp>
        <p:nvSpPr>
          <p:cNvPr id="9" name="r2-value">
            <a:extLst>
              <a:ext uri="{FF2B5EF4-FFF2-40B4-BE49-F238E27FC236}">
                <a16:creationId xmlns:a16="http://schemas.microsoft.com/office/drawing/2014/main" id="{558A6203-897F-4E68-A8D3-274D89DE2514}"/>
              </a:ext>
            </a:extLst>
          </p:cNvPr>
          <p:cNvSpPr>
            <a:spLocks noGrp="1"/>
          </p:cNvSpPr>
          <p:nvPr/>
        </p:nvSpPr>
        <p:spPr>
          <a:xfrm>
            <a:off x="9734550" y="933450"/>
            <a:ext cx="1809750" cy="476250"/>
          </a:xfrm>
          <a:prstGeom prst="rect">
            <a:avLst/>
          </a:prstGeom>
          <a:ln w="0">
            <a:solidFill>
              <a:srgbClr val="2878B5"/>
            </a:solidFill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R² = 0,8572</a:t>
            </a:r>
          </a:p>
        </p:txBody>
      </p:sp>
      <p:sp>
        <p:nvSpPr>
          <p:cNvPr id="10" name="main-chart-panel">
            <a:extLst>
              <a:ext uri="{FF2B5EF4-FFF2-40B4-BE49-F238E27FC236}">
                <a16:creationId xmlns:a16="http://schemas.microsoft.com/office/drawing/2014/main" id="{6FCB3A9B-AF28-4DB4-A966-801827A4BE9D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72390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" name="main-chart-label">
            <a:extLst>
              <a:ext uri="{FF2B5EF4-FFF2-40B4-BE49-F238E27FC236}">
                <a16:creationId xmlns:a16="http://schemas.microsoft.com/office/drawing/2014/main" id="{2F8DC56C-BE8D-47DF-8C85-EFA6F0008B29}"/>
              </a:ext>
            </a:extLst>
          </p:cNvPr>
          <p:cNvSpPr>
            <a:spLocks noGrp="1"/>
          </p:cNvSpPr>
          <p:nvPr/>
        </p:nvSpPr>
        <p:spPr>
          <a:xfrm>
            <a:off x="590550" y="1933575"/>
            <a:ext cx="40005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EVOLUCIÓN MENSUAL: REAL VS. PREDICHO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0606" y="2190750"/>
            <a:ext cx="5957888" cy="2647950"/>
          </a:xfrm>
          <a:prstGeom prst="rect">
            <a:avLst/>
          </a:prstGeom>
        </p:spPr>
      </p:pic>
      <p:sp>
        <p:nvSpPr>
          <p:cNvPr id="13" name="secondary-chart-panel">
            <a:extLst>
              <a:ext uri="{FF2B5EF4-FFF2-40B4-BE49-F238E27FC236}">
                <a16:creationId xmlns:a16="http://schemas.microsoft.com/office/drawing/2014/main" id="{2E4949BF-885C-454F-8392-533784197863}"/>
              </a:ext>
            </a:extLst>
          </p:cNvPr>
          <p:cNvSpPr>
            <a:spLocks noGrp="1"/>
          </p:cNvSpPr>
          <p:nvPr/>
        </p:nvSpPr>
        <p:spPr>
          <a:xfrm>
            <a:off x="7867650" y="1809750"/>
            <a:ext cx="39243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4" name="secondary-chart-label">
            <a:extLst>
              <a:ext uri="{FF2B5EF4-FFF2-40B4-BE49-F238E27FC236}">
                <a16:creationId xmlns:a16="http://schemas.microsoft.com/office/drawing/2014/main" id="{37EC670C-5029-4DE4-B111-DADB43A39DF3}"/>
              </a:ext>
            </a:extLst>
          </p:cNvPr>
          <p:cNvSpPr>
            <a:spLocks noGrp="1"/>
          </p:cNvSpPr>
          <p:nvPr/>
        </p:nvSpPr>
        <p:spPr>
          <a:xfrm>
            <a:off x="8058150" y="1933575"/>
            <a:ext cx="333375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PROXIMIDAD ENTRE VALORES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72500" y="2171700"/>
            <a:ext cx="2514600" cy="1676400"/>
          </a:xfrm>
          <a:prstGeom prst="rect">
            <a:avLst/>
          </a:prstGeom>
        </p:spPr>
      </p:pic>
      <p:sp>
        <p:nvSpPr>
          <p:cNvPr id="16" name="metrics-panel">
            <a:extLst>
              <a:ext uri="{FF2B5EF4-FFF2-40B4-BE49-F238E27FC236}">
                <a16:creationId xmlns:a16="http://schemas.microsoft.com/office/drawing/2014/main" id="{79D8ACC3-851B-4E0D-B9C3-C86446FD7236}"/>
              </a:ext>
            </a:extLst>
          </p:cNvPr>
          <p:cNvSpPr>
            <a:spLocks noGrp="1"/>
          </p:cNvSpPr>
          <p:nvPr/>
        </p:nvSpPr>
        <p:spPr>
          <a:xfrm>
            <a:off x="7867650" y="4152900"/>
            <a:ext cx="3924300" cy="838200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metric-divider">
            <a:extLst>
              <a:ext uri="{FF2B5EF4-FFF2-40B4-BE49-F238E27FC236}">
                <a16:creationId xmlns:a16="http://schemas.microsoft.com/office/drawing/2014/main" id="{D6F35F89-C571-4A31-937E-B283A4B95F48}"/>
              </a:ext>
            </a:extLst>
          </p:cNvPr>
          <p:cNvSpPr>
            <a:spLocks noGrp="1"/>
          </p:cNvSpPr>
          <p:nvPr/>
        </p:nvSpPr>
        <p:spPr>
          <a:xfrm>
            <a:off x="9820275" y="4314825"/>
            <a:ext cx="9525" cy="514350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8" name="adjusted-label">
            <a:extLst>
              <a:ext uri="{FF2B5EF4-FFF2-40B4-BE49-F238E27FC236}">
                <a16:creationId xmlns:a16="http://schemas.microsoft.com/office/drawing/2014/main" id="{B6133541-932C-414B-B947-618001DE7BDD}"/>
              </a:ext>
            </a:extLst>
          </p:cNvPr>
          <p:cNvSpPr>
            <a:spLocks noGrp="1"/>
          </p:cNvSpPr>
          <p:nvPr/>
        </p:nvSpPr>
        <p:spPr>
          <a:xfrm>
            <a:off x="8058150" y="4286250"/>
            <a:ext cx="1524000" cy="19050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R² AJUSTADO</a:t>
            </a:r>
          </a:p>
        </p:txBody>
      </p:sp>
      <p:sp>
        <p:nvSpPr>
          <p:cNvPr id="19" name="adjusted-value">
            <a:extLst>
              <a:ext uri="{FF2B5EF4-FFF2-40B4-BE49-F238E27FC236}">
                <a16:creationId xmlns:a16="http://schemas.microsoft.com/office/drawing/2014/main" id="{444C440D-40AA-499D-BAB6-50E36516E3C5}"/>
              </a:ext>
            </a:extLst>
          </p:cNvPr>
          <p:cNvSpPr>
            <a:spLocks noGrp="1"/>
          </p:cNvSpPr>
          <p:nvPr/>
        </p:nvSpPr>
        <p:spPr>
          <a:xfrm>
            <a:off x="8058150" y="4476750"/>
            <a:ext cx="1524000" cy="34290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0,825</a:t>
            </a:r>
          </a:p>
        </p:txBody>
      </p:sp>
      <p:pic>
        <p:nvPicPr>
          <p:cNvPr id="20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39350" y="4324350"/>
            <a:ext cx="247650" cy="247650"/>
          </a:xfrm>
          <a:prstGeom prst="rect">
            <a:avLst/>
          </a:prstGeom>
        </p:spPr>
      </p:pic>
      <p:sp>
        <p:nvSpPr>
          <p:cNvPr id="21" name="coefficients-text">
            <a:extLst>
              <a:ext uri="{FF2B5EF4-FFF2-40B4-BE49-F238E27FC236}">
                <a16:creationId xmlns:a16="http://schemas.microsoft.com/office/drawing/2014/main" id="{47A0F0F6-5B1B-48B6-A051-E145624D995F}"/>
              </a:ext>
            </a:extLst>
          </p:cNvPr>
          <p:cNvSpPr>
            <a:spLocks noGrp="1"/>
          </p:cNvSpPr>
          <p:nvPr/>
        </p:nvSpPr>
        <p:spPr>
          <a:xfrm>
            <a:off x="10382250" y="4257675"/>
            <a:ext cx="1200150" cy="5905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Coeficientes</a:t>
            </a:r>
          </a:p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positivos y</a:t>
            </a:r>
          </a:p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significativos</a:t>
            </a:r>
          </a:p>
        </p:txBody>
      </p:sp>
      <p:sp>
        <p:nvSpPr>
          <p:cNvPr id="22" name="key-message">
            <a:extLst>
              <a:ext uri="{FF2B5EF4-FFF2-40B4-BE49-F238E27FC236}">
                <a16:creationId xmlns:a16="http://schemas.microsoft.com/office/drawing/2014/main" id="{C9C369C4-0B42-4DFB-AF15-7E98277B957A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11391900" cy="571500"/>
          </a:xfrm>
          <a:prstGeom prst="roundRect">
            <a:avLst>
              <a:gd name="adj" fmla="val 13333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750" y="5372100"/>
            <a:ext cx="266700" cy="266700"/>
          </a:xfrm>
          <a:prstGeom prst="rect">
            <a:avLst/>
          </a:prstGeom>
        </p:spPr>
      </p:pic>
      <p:sp>
        <p:nvSpPr>
          <p:cNvPr id="24" name="key-message-text">
            <a:extLst>
              <a:ext uri="{FF2B5EF4-FFF2-40B4-BE49-F238E27FC236}">
                <a16:creationId xmlns:a16="http://schemas.microsoft.com/office/drawing/2014/main" id="{7FEB703D-5AD9-43B6-80C6-1A39BE31E1DE}"/>
              </a:ext>
            </a:extLst>
          </p:cNvPr>
          <p:cNvSpPr>
            <a:spLocks noGrp="1"/>
          </p:cNvSpPr>
          <p:nvPr/>
        </p:nvSpPr>
        <p:spPr>
          <a:xfrm>
            <a:off x="1104900" y="5314950"/>
            <a:ext cx="10287000" cy="3810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modelo reproduce adecuadamente el comportamiento observado del consumo durante 2025.</a:t>
            </a:r>
          </a:p>
        </p:txBody>
      </p:sp>
      <p:sp>
        <p:nvSpPr>
          <p:cNvPr id="25" name="footer-rule">
            <a:extLst>
              <a:ext uri="{FF2B5EF4-FFF2-40B4-BE49-F238E27FC236}">
                <a16:creationId xmlns:a16="http://schemas.microsoft.com/office/drawing/2014/main" id="{6127133C-552E-43F9-96C6-DB0BD5E82DAF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6" name="footer-message">
            <a:extLst>
              <a:ext uri="{FF2B5EF4-FFF2-40B4-BE49-F238E27FC236}">
                <a16:creationId xmlns:a16="http://schemas.microsoft.com/office/drawing/2014/main" id="{2A6D127F-37AD-490F-87C2-ABC1205D048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019175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Interpretación: tanto el frío como el calor incrementan el consumo energético esperado.</a:t>
            </a:r>
          </a:p>
        </p:txBody>
      </p:sp>
      <p:sp>
        <p:nvSpPr>
          <p:cNvPr id="27" name="page-number">
            <a:extLst>
              <a:ext uri="{FF2B5EF4-FFF2-40B4-BE49-F238E27FC236}">
                <a16:creationId xmlns:a16="http://schemas.microsoft.com/office/drawing/2014/main" id="{06FDB0DB-5E79-4FB6-BA78-E39C3BE34E02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74295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213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ackground">
            <a:extLst>
              <a:ext uri="{FF2B5EF4-FFF2-40B4-BE49-F238E27FC236}">
                <a16:creationId xmlns:a16="http://schemas.microsoft.com/office/drawing/2014/main" id="{37EC93E9-46F3-47A7-BDC3-9465A00EF9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D1864A9D-4D17-43DF-8F28-416740B3D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A64070A4-DA9F-486C-AB68-1CF87C742336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357C36B7-7949-4A3C-8C8C-4A2CA58F30D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34290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VALIDACIÓN FUERA DE MUESTRA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98DA0777-49B8-4FF5-A9E1-65E9410BDF14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9525000" cy="5524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Buen ajuste histórico no garantiza mejor predicción futura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2A171FB4-CA26-4F0E-BEC4-EA4C7485F9F5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76200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validación utiliza datos no empleados durante el entrenamiento.</a:t>
            </a:r>
          </a:p>
        </p:txBody>
      </p:sp>
      <p:sp>
        <p:nvSpPr>
          <p:cNvPr id="7" name="period-badge">
            <a:extLst>
              <a:ext uri="{FF2B5EF4-FFF2-40B4-BE49-F238E27FC236}">
                <a16:creationId xmlns:a16="http://schemas.microsoft.com/office/drawing/2014/main" id="{49C9C745-B818-4AA2-B88B-65FEFC367FB3}"/>
              </a:ext>
            </a:extLst>
          </p:cNvPr>
          <p:cNvSpPr>
            <a:spLocks noGrp="1"/>
          </p:cNvSpPr>
          <p:nvPr/>
        </p:nvSpPr>
        <p:spPr>
          <a:xfrm>
            <a:off x="9620250" y="647700"/>
            <a:ext cx="2171700" cy="781050"/>
          </a:xfrm>
          <a:prstGeom prst="roundRect">
            <a:avLst>
              <a:gd name="adj" fmla="val 9756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91700" y="866775"/>
            <a:ext cx="247650" cy="247650"/>
          </a:xfrm>
          <a:prstGeom prst="rect">
            <a:avLst/>
          </a:prstGeom>
        </p:spPr>
      </p:pic>
      <p:sp>
        <p:nvSpPr>
          <p:cNvPr id="9" name="period-label">
            <a:extLst>
              <a:ext uri="{FF2B5EF4-FFF2-40B4-BE49-F238E27FC236}">
                <a16:creationId xmlns:a16="http://schemas.microsoft.com/office/drawing/2014/main" id="{B1BBCFA0-CC94-48D8-8071-59487DC8714F}"/>
              </a:ext>
            </a:extLst>
          </p:cNvPr>
          <p:cNvSpPr>
            <a:spLocks noGrp="1"/>
          </p:cNvSpPr>
          <p:nvPr/>
        </p:nvSpPr>
        <p:spPr>
          <a:xfrm>
            <a:off x="10172700" y="742950"/>
            <a:ext cx="1428750" cy="2095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PERIODO VALIDADO</a:t>
            </a:r>
          </a:p>
        </p:txBody>
      </p:sp>
      <p:sp>
        <p:nvSpPr>
          <p:cNvPr id="10" name="period-value">
            <a:extLst>
              <a:ext uri="{FF2B5EF4-FFF2-40B4-BE49-F238E27FC236}">
                <a16:creationId xmlns:a16="http://schemas.microsoft.com/office/drawing/2014/main" id="{5761DEA8-4A66-41A9-98E5-580F78C93E58}"/>
              </a:ext>
            </a:extLst>
          </p:cNvPr>
          <p:cNvSpPr>
            <a:spLocks noGrp="1"/>
          </p:cNvSpPr>
          <p:nvPr/>
        </p:nvSpPr>
        <p:spPr>
          <a:xfrm>
            <a:off x="10172700" y="962025"/>
            <a:ext cx="1428750" cy="2857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Ene. – Abr. 2026</a:t>
            </a:r>
          </a:p>
        </p:txBody>
      </p:sp>
      <p:sp>
        <p:nvSpPr>
          <p:cNvPr id="11" name="main-chart-panel">
            <a:extLst>
              <a:ext uri="{FF2B5EF4-FFF2-40B4-BE49-F238E27FC236}">
                <a16:creationId xmlns:a16="http://schemas.microsoft.com/office/drawing/2014/main" id="{D4FF4F76-6457-4C8D-8509-913D8004A793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4928712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2" name="main-chart-label">
            <a:extLst>
              <a:ext uri="{FF2B5EF4-FFF2-40B4-BE49-F238E27FC236}">
                <a16:creationId xmlns:a16="http://schemas.microsoft.com/office/drawing/2014/main" id="{C2571B9C-FC30-496A-B9F6-12729CAA307F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4572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878B5"/>
                </a:solidFill>
                <a:latin typeface="Aptos"/>
                <a:ea typeface="Aptos"/>
                <a:cs typeface="Aptos"/>
              </a:rPr>
              <a:t>COMPARACIÓN DE PREDICCIONES CON EL CONSUMO </a:t>
            </a:r>
            <a:r>
              <a:rPr lang="es-AR" sz="825" b="1" dirty="0">
                <a:solidFill>
                  <a:srgbClr val="2878B5"/>
                </a:solidFill>
                <a:latin typeface="Aptos"/>
                <a:ea typeface="Aptos"/>
                <a:cs typeface="Aptos"/>
              </a:rPr>
              <a:t>TOTAL FINAL 2026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" y="2057400"/>
            <a:ext cx="4419600" cy="2209800"/>
          </a:xfrm>
          <a:prstGeom prst="rect">
            <a:avLst/>
          </a:prstGeom>
        </p:spPr>
      </p:pic>
      <p:sp>
        <p:nvSpPr>
          <p:cNvPr id="14" name="thermal-errors-panel">
            <a:extLst>
              <a:ext uri="{FF2B5EF4-FFF2-40B4-BE49-F238E27FC236}">
                <a16:creationId xmlns:a16="http://schemas.microsoft.com/office/drawing/2014/main" id="{F64B1356-9DE7-4677-977E-C5A402C7153E}"/>
              </a:ext>
            </a:extLst>
          </p:cNvPr>
          <p:cNvSpPr>
            <a:spLocks noGrp="1"/>
          </p:cNvSpPr>
          <p:nvPr/>
        </p:nvSpPr>
        <p:spPr>
          <a:xfrm>
            <a:off x="5429250" y="1695450"/>
            <a:ext cx="645795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5" name="thermal-errors-label">
            <a:extLst>
              <a:ext uri="{FF2B5EF4-FFF2-40B4-BE49-F238E27FC236}">
                <a16:creationId xmlns:a16="http://schemas.microsoft.com/office/drawing/2014/main" id="{F4C32990-1035-4338-922C-AF27313446D1}"/>
              </a:ext>
            </a:extLst>
          </p:cNvPr>
          <p:cNvSpPr>
            <a:spLocks noGrp="1"/>
          </p:cNvSpPr>
          <p:nvPr/>
        </p:nvSpPr>
        <p:spPr>
          <a:xfrm>
            <a:off x="7820025" y="1714500"/>
            <a:ext cx="333375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878B5"/>
                </a:solidFill>
                <a:latin typeface="Aptos"/>
                <a:ea typeface="Aptos"/>
                <a:cs typeface="Aptos"/>
              </a:rPr>
              <a:t>ERROR FRENTE A VARIABLES TÉRMICAS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513070" y="1885057"/>
            <a:ext cx="3110388" cy="194399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623458" y="1913928"/>
            <a:ext cx="3079434" cy="1924647"/>
          </a:xfrm>
          <a:prstGeom prst="rect">
            <a:avLst/>
          </a:prstGeom>
        </p:spPr>
      </p:pic>
      <p:sp>
        <p:nvSpPr>
          <p:cNvPr id="18" name="thermal-note">
            <a:extLst>
              <a:ext uri="{FF2B5EF4-FFF2-40B4-BE49-F238E27FC236}">
                <a16:creationId xmlns:a16="http://schemas.microsoft.com/office/drawing/2014/main" id="{974AB63C-3928-45E6-9D60-368BC01F9D3E}"/>
              </a:ext>
            </a:extLst>
          </p:cNvPr>
          <p:cNvSpPr>
            <a:spLocks noGrp="1"/>
          </p:cNvSpPr>
          <p:nvPr/>
        </p:nvSpPr>
        <p:spPr>
          <a:xfrm>
            <a:off x="6953250" y="4010025"/>
            <a:ext cx="3543300" cy="304800"/>
          </a:xfrm>
          <a:prstGeom prst="roundRect">
            <a:avLst>
              <a:gd name="adj" fmla="val 25000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9" name="thermal-note-text">
            <a:extLst>
              <a:ext uri="{FF2B5EF4-FFF2-40B4-BE49-F238E27FC236}">
                <a16:creationId xmlns:a16="http://schemas.microsoft.com/office/drawing/2014/main" id="{72D34949-6825-4567-BF65-CE4142365CF3}"/>
              </a:ext>
            </a:extLst>
          </p:cNvPr>
          <p:cNvSpPr>
            <a:spLocks noGrp="1"/>
          </p:cNvSpPr>
          <p:nvPr/>
        </p:nvSpPr>
        <p:spPr>
          <a:xfrm>
            <a:off x="7067550" y="4057650"/>
            <a:ext cx="3314700" cy="2095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lang="es-AR" sz="825" b="1" dirty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CDD y HDD no explican por sí solas los errores</a:t>
            </a:r>
            <a:endParaRPr sz="825" b="1" dirty="0">
              <a:solidFill>
                <a:srgbClr val="1632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model-card">
            <a:extLst>
              <a:ext uri="{FF2B5EF4-FFF2-40B4-BE49-F238E27FC236}">
                <a16:creationId xmlns:a16="http://schemas.microsoft.com/office/drawing/2014/main" id="{B9DC160A-B937-46B4-8EBC-93AAE05D7A69}"/>
              </a:ext>
            </a:extLst>
          </p:cNvPr>
          <p:cNvSpPr>
            <a:spLocks noGrp="1"/>
          </p:cNvSpPr>
          <p:nvPr/>
        </p:nvSpPr>
        <p:spPr>
          <a:xfrm>
            <a:off x="400050" y="4648200"/>
            <a:ext cx="33337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383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1" name="model-card-accent">
            <a:extLst>
              <a:ext uri="{FF2B5EF4-FFF2-40B4-BE49-F238E27FC236}">
                <a16:creationId xmlns:a16="http://schemas.microsoft.com/office/drawing/2014/main" id="{D8D78E50-D7C8-4705-AA70-767B969BA61B}"/>
              </a:ext>
            </a:extLst>
          </p:cNvPr>
          <p:cNvSpPr>
            <a:spLocks noGrp="1"/>
          </p:cNvSpPr>
          <p:nvPr/>
        </p:nvSpPr>
        <p:spPr>
          <a:xfrm>
            <a:off x="400050" y="4648200"/>
            <a:ext cx="76200" cy="9334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model-label">
            <a:extLst>
              <a:ext uri="{FF2B5EF4-FFF2-40B4-BE49-F238E27FC236}">
                <a16:creationId xmlns:a16="http://schemas.microsoft.com/office/drawing/2014/main" id="{82EBB45A-7FF3-43C8-85ED-E7FCCBE14C55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1524000" cy="2286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MODELO 1</a:t>
            </a:r>
          </a:p>
        </p:txBody>
      </p:sp>
      <p:sp>
        <p:nvSpPr>
          <p:cNvPr id="23" name="model-mape">
            <a:extLst>
              <a:ext uri="{FF2B5EF4-FFF2-40B4-BE49-F238E27FC236}">
                <a16:creationId xmlns:a16="http://schemas.microsoft.com/office/drawing/2014/main" id="{12EED3BD-685B-46E3-AFD8-3947EAF2216F}"/>
              </a:ext>
            </a:extLst>
          </p:cNvPr>
          <p:cNvSpPr>
            <a:spLocks noGrp="1"/>
          </p:cNvSpPr>
          <p:nvPr/>
        </p:nvSpPr>
        <p:spPr>
          <a:xfrm>
            <a:off x="647700" y="5029200"/>
            <a:ext cx="13335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MAPE  8,51 %</a:t>
            </a:r>
          </a:p>
        </p:txBody>
      </p:sp>
      <p:sp>
        <p:nvSpPr>
          <p:cNvPr id="24" name="model-rmse">
            <a:extLst>
              <a:ext uri="{FF2B5EF4-FFF2-40B4-BE49-F238E27FC236}">
                <a16:creationId xmlns:a16="http://schemas.microsoft.com/office/drawing/2014/main" id="{624D607F-5D97-4279-9E0C-986A5A788C7A}"/>
              </a:ext>
            </a:extLst>
          </p:cNvPr>
          <p:cNvSpPr>
            <a:spLocks noGrp="1"/>
          </p:cNvSpPr>
          <p:nvPr/>
        </p:nvSpPr>
        <p:spPr>
          <a:xfrm>
            <a:off x="2152650" y="5029200"/>
            <a:ext cx="13335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12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RMSE  ≈ 2 GWh</a:t>
            </a:r>
          </a:p>
        </p:txBody>
      </p:sp>
      <p:sp>
        <p:nvSpPr>
          <p:cNvPr id="25" name="company-card">
            <a:extLst>
              <a:ext uri="{FF2B5EF4-FFF2-40B4-BE49-F238E27FC236}">
                <a16:creationId xmlns:a16="http://schemas.microsoft.com/office/drawing/2014/main" id="{A625D19B-F052-4D35-9B73-C1472E723CE9}"/>
              </a:ext>
            </a:extLst>
          </p:cNvPr>
          <p:cNvSpPr>
            <a:spLocks noGrp="1"/>
          </p:cNvSpPr>
          <p:nvPr/>
        </p:nvSpPr>
        <p:spPr>
          <a:xfrm>
            <a:off x="3924300" y="4648200"/>
            <a:ext cx="3333750" cy="933450"/>
          </a:xfrm>
          <a:prstGeom prst="roundRect">
            <a:avLst>
              <a:gd name="adj" fmla="val 8163"/>
            </a:avLst>
          </a:prstGeom>
          <a:solidFill>
            <a:srgbClr val="E8F5EF"/>
          </a:solidFill>
          <a:ln w="22860">
            <a:solidFill>
              <a:srgbClr val="2F806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6" name="company-card-accent">
            <a:extLst>
              <a:ext uri="{FF2B5EF4-FFF2-40B4-BE49-F238E27FC236}">
                <a16:creationId xmlns:a16="http://schemas.microsoft.com/office/drawing/2014/main" id="{B40E81DD-1F04-4C3A-B734-9291B92F4E21}"/>
              </a:ext>
            </a:extLst>
          </p:cNvPr>
          <p:cNvSpPr>
            <a:spLocks noGrp="1"/>
          </p:cNvSpPr>
          <p:nvPr/>
        </p:nvSpPr>
        <p:spPr>
          <a:xfrm>
            <a:off x="3924300" y="4648200"/>
            <a:ext cx="76200" cy="933450"/>
          </a:xfrm>
          <a:prstGeom prst="rect">
            <a:avLst/>
          </a:prstGeom>
          <a:solidFill>
            <a:srgbClr val="2F8065"/>
          </a:solidFill>
          <a:ln w="0">
            <a:solidFill>
              <a:srgbClr val="2F806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7" name="company-label">
            <a:extLst>
              <a:ext uri="{FF2B5EF4-FFF2-40B4-BE49-F238E27FC236}">
                <a16:creationId xmlns:a16="http://schemas.microsoft.com/office/drawing/2014/main" id="{288293B9-860B-457A-814A-302FC0D7D11C}"/>
              </a:ext>
            </a:extLst>
          </p:cNvPr>
          <p:cNvSpPr>
            <a:spLocks noGrp="1"/>
          </p:cNvSpPr>
          <p:nvPr/>
        </p:nvSpPr>
        <p:spPr>
          <a:xfrm>
            <a:off x="4171950" y="4762500"/>
            <a:ext cx="1143000" cy="228600"/>
          </a:xfrm>
          <a:prstGeom prst="rect">
            <a:avLst/>
          </a:prstGeom>
          <a:ln w="0">
            <a:solidFill>
              <a:srgbClr val="E8F5EF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F80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065"/>
                </a:solidFill>
                <a:latin typeface="Aptos"/>
                <a:ea typeface="Aptos"/>
                <a:cs typeface="Aptos"/>
              </a:rPr>
              <a:t>EMPRESA</a:t>
            </a:r>
          </a:p>
        </p:txBody>
      </p:sp>
      <p:sp>
        <p:nvSpPr>
          <p:cNvPr id="28" name="lower-error-badge">
            <a:extLst>
              <a:ext uri="{FF2B5EF4-FFF2-40B4-BE49-F238E27FC236}">
                <a16:creationId xmlns:a16="http://schemas.microsoft.com/office/drawing/2014/main" id="{112055DC-5E65-4022-BFA0-44D3E7BC1A01}"/>
              </a:ext>
            </a:extLst>
          </p:cNvPr>
          <p:cNvSpPr>
            <a:spLocks noGrp="1"/>
          </p:cNvSpPr>
          <p:nvPr/>
        </p:nvSpPr>
        <p:spPr>
          <a:xfrm>
            <a:off x="5600700" y="4752975"/>
            <a:ext cx="1428750" cy="247650"/>
          </a:xfrm>
          <a:prstGeom prst="roundRect">
            <a:avLst>
              <a:gd name="adj" fmla="val 30769"/>
            </a:avLst>
          </a:prstGeom>
          <a:solidFill>
            <a:srgbClr val="2F8065"/>
          </a:solidFill>
          <a:ln w="0">
            <a:solidFill>
              <a:srgbClr val="2F806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9" name="lower-error-text">
            <a:extLst>
              <a:ext uri="{FF2B5EF4-FFF2-40B4-BE49-F238E27FC236}">
                <a16:creationId xmlns:a16="http://schemas.microsoft.com/office/drawing/2014/main" id="{C1D81E85-D77F-4E33-84A3-475D3A7232E5}"/>
              </a:ext>
            </a:extLst>
          </p:cNvPr>
          <p:cNvSpPr>
            <a:spLocks noGrp="1"/>
          </p:cNvSpPr>
          <p:nvPr/>
        </p:nvSpPr>
        <p:spPr>
          <a:xfrm>
            <a:off x="5676900" y="4781550"/>
            <a:ext cx="1276350" cy="190500"/>
          </a:xfrm>
          <a:prstGeom prst="rect">
            <a:avLst/>
          </a:prstGeom>
          <a:ln w="0">
            <a:solidFill>
              <a:srgbClr val="2F8065"/>
            </a:solidFill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MENOR ERROR</a:t>
            </a:r>
          </a:p>
        </p:txBody>
      </p:sp>
      <p:sp>
        <p:nvSpPr>
          <p:cNvPr id="30" name="company-mape">
            <a:extLst>
              <a:ext uri="{FF2B5EF4-FFF2-40B4-BE49-F238E27FC236}">
                <a16:creationId xmlns:a16="http://schemas.microsoft.com/office/drawing/2014/main" id="{BA59EB0D-5C46-47AA-8527-216B9F41CDF1}"/>
              </a:ext>
            </a:extLst>
          </p:cNvPr>
          <p:cNvSpPr>
            <a:spLocks noGrp="1"/>
          </p:cNvSpPr>
          <p:nvPr/>
        </p:nvSpPr>
        <p:spPr>
          <a:xfrm>
            <a:off x="4171950" y="5029200"/>
            <a:ext cx="1333500" cy="323850"/>
          </a:xfrm>
          <a:prstGeom prst="rect">
            <a:avLst/>
          </a:prstGeom>
          <a:ln w="0">
            <a:solidFill>
              <a:srgbClr val="E8F5EF"/>
            </a:solidFill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MAPE  4,91 %</a:t>
            </a:r>
          </a:p>
        </p:txBody>
      </p:sp>
      <p:sp>
        <p:nvSpPr>
          <p:cNvPr id="31" name="company-rmse">
            <a:extLst>
              <a:ext uri="{FF2B5EF4-FFF2-40B4-BE49-F238E27FC236}">
                <a16:creationId xmlns:a16="http://schemas.microsoft.com/office/drawing/2014/main" id="{36B8D1F4-C076-4E84-AF68-A223FE805350}"/>
              </a:ext>
            </a:extLst>
          </p:cNvPr>
          <p:cNvSpPr>
            <a:spLocks noGrp="1"/>
          </p:cNvSpPr>
          <p:nvPr/>
        </p:nvSpPr>
        <p:spPr>
          <a:xfrm>
            <a:off x="5676900" y="5029200"/>
            <a:ext cx="1333500" cy="323850"/>
          </a:xfrm>
          <a:prstGeom prst="rect">
            <a:avLst/>
          </a:prstGeom>
          <a:ln w="0">
            <a:solidFill>
              <a:srgbClr val="E8F5EF"/>
            </a:solidFill>
          </a:ln>
        </p:spPr>
        <p:txBody>
          <a:bodyPr lIns="0" tIns="0" rIns="0" bIns="0" anchor="ctr"/>
          <a:lstStyle/>
          <a:p>
            <a:pPr algn="r">
              <a:defRPr sz="1275" b="1">
                <a:solidFill>
                  <a:srgbClr val="2F80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65"/>
                </a:solidFill>
                <a:latin typeface="Aptos"/>
                <a:ea typeface="Aptos"/>
                <a:cs typeface="Aptos"/>
              </a:rPr>
              <a:t>RMSE  ≈ 1 GWh</a:t>
            </a:r>
          </a:p>
        </p:txBody>
      </p:sp>
      <p:sp>
        <p:nvSpPr>
          <p:cNvPr id="32" name="prediction-card">
            <a:extLst>
              <a:ext uri="{FF2B5EF4-FFF2-40B4-BE49-F238E27FC236}">
                <a16:creationId xmlns:a16="http://schemas.microsoft.com/office/drawing/2014/main" id="{30421C8C-6E96-4266-91A9-DC9E6E3BE6B6}"/>
              </a:ext>
            </a:extLst>
          </p:cNvPr>
          <p:cNvSpPr>
            <a:spLocks noGrp="1"/>
          </p:cNvSpPr>
          <p:nvPr/>
        </p:nvSpPr>
        <p:spPr>
          <a:xfrm>
            <a:off x="7448550" y="4648200"/>
            <a:ext cx="4343400" cy="933450"/>
          </a:xfrm>
          <a:prstGeom prst="roundRect">
            <a:avLst>
              <a:gd name="adj" fmla="val 8163"/>
            </a:avLst>
          </a:prstGeom>
          <a:solidFill>
            <a:srgbClr val="EAF4FA"/>
          </a:solidFill>
          <a:ln w="10478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3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677150" y="4867275"/>
            <a:ext cx="285750" cy="285750"/>
          </a:xfrm>
          <a:prstGeom prst="rect">
            <a:avLst/>
          </a:prstGeom>
        </p:spPr>
      </p:pic>
      <p:sp>
        <p:nvSpPr>
          <p:cNvPr id="34" name="prediction-label">
            <a:extLst>
              <a:ext uri="{FF2B5EF4-FFF2-40B4-BE49-F238E27FC236}">
                <a16:creationId xmlns:a16="http://schemas.microsoft.com/office/drawing/2014/main" id="{2E92440E-65FC-43CE-80A9-2F20EA51F5CD}"/>
              </a:ext>
            </a:extLst>
          </p:cNvPr>
          <p:cNvSpPr>
            <a:spLocks noGrp="1"/>
          </p:cNvSpPr>
          <p:nvPr/>
        </p:nvSpPr>
        <p:spPr>
          <a:xfrm>
            <a:off x="8115300" y="4752975"/>
            <a:ext cx="3143250" cy="2095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PREDICCIÓN ACUMULADA · MODELO 1</a:t>
            </a:r>
          </a:p>
        </p:txBody>
      </p:sp>
      <p:sp>
        <p:nvSpPr>
          <p:cNvPr id="35" name="prediction-value">
            <a:extLst>
              <a:ext uri="{FF2B5EF4-FFF2-40B4-BE49-F238E27FC236}">
                <a16:creationId xmlns:a16="http://schemas.microsoft.com/office/drawing/2014/main" id="{884DAD9B-0259-4780-BEDB-B78E2714167D}"/>
              </a:ext>
            </a:extLst>
          </p:cNvPr>
          <p:cNvSpPr>
            <a:spLocks noGrp="1"/>
          </p:cNvSpPr>
          <p:nvPr/>
        </p:nvSpPr>
        <p:spPr>
          <a:xfrm>
            <a:off x="8115300" y="4991100"/>
            <a:ext cx="3143250" cy="4000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89,41 GWh</a:t>
            </a:r>
          </a:p>
        </p:txBody>
      </p:sp>
      <p:sp>
        <p:nvSpPr>
          <p:cNvPr id="36" name="key-message">
            <a:extLst>
              <a:ext uri="{FF2B5EF4-FFF2-40B4-BE49-F238E27FC236}">
                <a16:creationId xmlns:a16="http://schemas.microsoft.com/office/drawing/2014/main" id="{29C7AB97-8DFD-4056-8A4A-E5D8830C8D71}"/>
              </a:ext>
            </a:extLst>
          </p:cNvPr>
          <p:cNvSpPr>
            <a:spLocks noGrp="1"/>
          </p:cNvSpPr>
          <p:nvPr/>
        </p:nvSpPr>
        <p:spPr>
          <a:xfrm>
            <a:off x="400050" y="5772150"/>
            <a:ext cx="11391900" cy="400050"/>
          </a:xfrm>
          <a:prstGeom prst="roundRect">
            <a:avLst>
              <a:gd name="adj" fmla="val 19048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7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28650" y="5867400"/>
            <a:ext cx="209550" cy="209550"/>
          </a:xfrm>
          <a:prstGeom prst="rect">
            <a:avLst/>
          </a:prstGeom>
        </p:spPr>
      </p:pic>
      <p:sp>
        <p:nvSpPr>
          <p:cNvPr id="38" name="key-message-text">
            <a:extLst>
              <a:ext uri="{FF2B5EF4-FFF2-40B4-BE49-F238E27FC236}">
                <a16:creationId xmlns:a16="http://schemas.microsoft.com/office/drawing/2014/main" id="{DF2CE132-F2C4-4558-9DD3-72B3563EA1CA}"/>
              </a:ext>
            </a:extLst>
          </p:cNvPr>
          <p:cNvSpPr>
            <a:spLocks noGrp="1"/>
          </p:cNvSpPr>
          <p:nvPr/>
        </p:nvSpPr>
        <p:spPr>
          <a:xfrm>
            <a:off x="990600" y="5810250"/>
            <a:ext cx="10458450" cy="3048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buen ajuste sobre datos históricos no garantiza el mejor desempeño predictivo en datos futuros.</a:t>
            </a:r>
          </a:p>
        </p:txBody>
      </p:sp>
      <p:sp>
        <p:nvSpPr>
          <p:cNvPr id="39" name="footer-rule">
            <a:extLst>
              <a:ext uri="{FF2B5EF4-FFF2-40B4-BE49-F238E27FC236}">
                <a16:creationId xmlns:a16="http://schemas.microsoft.com/office/drawing/2014/main" id="{BA455D35-51F7-468A-B167-6721642D7DA1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0" name="footer-message">
            <a:extLst>
              <a:ext uri="{FF2B5EF4-FFF2-40B4-BE49-F238E27FC236}">
                <a16:creationId xmlns:a16="http://schemas.microsoft.com/office/drawing/2014/main" id="{32034664-85DE-4C13-9AED-61F928605744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9906000" cy="2095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La validación fuera de muestra cambia la lectura del desempeño.</a:t>
            </a:r>
          </a:p>
        </p:txBody>
      </p:sp>
      <p:sp>
        <p:nvSpPr>
          <p:cNvPr id="41" name="page-number">
            <a:extLst>
              <a:ext uri="{FF2B5EF4-FFF2-40B4-BE49-F238E27FC236}">
                <a16:creationId xmlns:a16="http://schemas.microsoft.com/office/drawing/2014/main" id="{F5970EA5-B311-491C-9D7D-5BB2DBB9A1D9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742950" cy="2095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3791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ackground">
            <a:extLst>
              <a:ext uri="{FF2B5EF4-FFF2-40B4-BE49-F238E27FC236}">
                <a16:creationId xmlns:a16="http://schemas.microsoft.com/office/drawing/2014/main" id="{78670BC8-23FA-4611-B91A-216C67343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0D58B74B-668A-4612-8644-A10C2FE12E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479E37A-90D3-4ED9-8A99-A43A5CCB5AF1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46E92BE0-D53E-43DB-A326-D5BBF31163A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2857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6490F5C-18D0-41AB-B542-D3F43D34127B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5524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7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HDD y CDD explican, pero no alcanzan solos para predecir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1F066E4-50C4-407F-AEB5-25876290F3FC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91440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clima aporta una señal valiosa, aunque la predicción futura requiere ampliar la información.</a:t>
            </a:r>
          </a:p>
        </p:txBody>
      </p:sp>
      <p:sp>
        <p:nvSpPr>
          <p:cNvPr id="7" name="achievements-panel">
            <a:extLst>
              <a:ext uri="{FF2B5EF4-FFF2-40B4-BE49-F238E27FC236}">
                <a16:creationId xmlns:a16="http://schemas.microsoft.com/office/drawing/2014/main" id="{17CC4AFF-32E9-44BA-A523-5B4C8BC51092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542925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4288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achievements-head">
            <a:extLst>
              <a:ext uri="{FF2B5EF4-FFF2-40B4-BE49-F238E27FC236}">
                <a16:creationId xmlns:a16="http://schemas.microsoft.com/office/drawing/2014/main" id="{F564DAD6-F631-4D38-A782-8E619C75F217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5429250" cy="590550"/>
          </a:xfrm>
          <a:prstGeom prst="roundRect">
            <a:avLst>
              <a:gd name="adj" fmla="val 12903"/>
            </a:avLst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28650" y="1952625"/>
            <a:ext cx="266700" cy="266700"/>
          </a:xfrm>
          <a:prstGeom prst="rect">
            <a:avLst/>
          </a:prstGeom>
        </p:spPr>
      </p:pic>
      <p:sp>
        <p:nvSpPr>
          <p:cNvPr id="10" name="achievements-head-text">
            <a:extLst>
              <a:ext uri="{FF2B5EF4-FFF2-40B4-BE49-F238E27FC236}">
                <a16:creationId xmlns:a16="http://schemas.microsoft.com/office/drawing/2014/main" id="{13804910-575C-4C21-98D4-EFC7139182C7}"/>
              </a:ext>
            </a:extLst>
          </p:cNvPr>
          <p:cNvSpPr>
            <a:spLocks noGrp="1"/>
          </p:cNvSpPr>
          <p:nvPr/>
        </p:nvSpPr>
        <p:spPr>
          <a:xfrm>
            <a:off x="1028700" y="1914525"/>
            <a:ext cx="4286250" cy="323850"/>
          </a:xfrm>
          <a:prstGeom prst="rect">
            <a:avLst/>
          </a:prstGeom>
          <a:ln w="0">
            <a:solidFill>
              <a:srgbClr val="2878B5"/>
            </a:solidFill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 QUE EL MODELO SÍ LOGRA</a:t>
            </a:r>
          </a:p>
        </p:txBody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7700" y="2619375"/>
            <a:ext cx="209550" cy="209550"/>
          </a:xfrm>
          <a:prstGeom prst="rect">
            <a:avLst/>
          </a:prstGeom>
        </p:spPr>
      </p:pic>
      <p:sp>
        <p:nvSpPr>
          <p:cNvPr id="12" name="achievement-1-text">
            <a:extLst>
              <a:ext uri="{FF2B5EF4-FFF2-40B4-BE49-F238E27FC236}">
                <a16:creationId xmlns:a16="http://schemas.microsoft.com/office/drawing/2014/main" id="{A0144887-7B75-43F8-BC91-BD88BAA80901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4419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HDD y CDD explican una proporción sustancial del consumo mensual de 2025.</a:t>
            </a:r>
          </a:p>
        </p:txBody>
      </p:sp>
      <p:pic>
        <p:nvPicPr>
          <p:cNvPr id="13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47700" y="3228975"/>
            <a:ext cx="209550" cy="209550"/>
          </a:xfrm>
          <a:prstGeom prst="rect">
            <a:avLst/>
          </a:prstGeom>
        </p:spPr>
      </p:pic>
      <p:sp>
        <p:nvSpPr>
          <p:cNvPr id="14" name="achievement-2-text">
            <a:extLst>
              <a:ext uri="{FF2B5EF4-FFF2-40B4-BE49-F238E27FC236}">
                <a16:creationId xmlns:a16="http://schemas.microsoft.com/office/drawing/2014/main" id="{59A84922-3126-4527-AF8D-C46E956E80F9}"/>
              </a:ext>
            </a:extLst>
          </p:cNvPr>
          <p:cNvSpPr>
            <a:spLocks noGrp="1"/>
          </p:cNvSpPr>
          <p:nvPr/>
        </p:nvSpPr>
        <p:spPr>
          <a:xfrm>
            <a:off x="990600" y="3181350"/>
            <a:ext cx="4419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El Modelo 1 obtuvo el mejor desempeño entre las alternativas evaluadas.</a:t>
            </a:r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7700" y="3838575"/>
            <a:ext cx="209550" cy="209550"/>
          </a:xfrm>
          <a:prstGeom prst="rect">
            <a:avLst/>
          </a:prstGeom>
        </p:spPr>
      </p:pic>
      <p:sp>
        <p:nvSpPr>
          <p:cNvPr id="16" name="achievement-3-text">
            <a:extLst>
              <a:ext uri="{FF2B5EF4-FFF2-40B4-BE49-F238E27FC236}">
                <a16:creationId xmlns:a16="http://schemas.microsoft.com/office/drawing/2014/main" id="{AD1C0758-E2A6-4DC9-A2D2-EE76900E5449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4419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La temperatura es relevante para comprender la variabilidad del consumo.</a:t>
            </a:r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47700" y="4448175"/>
            <a:ext cx="209550" cy="209550"/>
          </a:xfrm>
          <a:prstGeom prst="rect">
            <a:avLst/>
          </a:prstGeom>
        </p:spPr>
      </p:pic>
      <p:sp>
        <p:nvSpPr>
          <p:cNvPr id="18" name="achievement-4-text">
            <a:extLst>
              <a:ext uri="{FF2B5EF4-FFF2-40B4-BE49-F238E27FC236}">
                <a16:creationId xmlns:a16="http://schemas.microsoft.com/office/drawing/2014/main" id="{3830E30D-A666-45E7-B0E4-2FF3298E2375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4419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El modelo reproduce adecuadamente el comportamiento histórico observado.</a:t>
            </a:r>
          </a:p>
        </p:txBody>
      </p:sp>
      <p:sp>
        <p:nvSpPr>
          <p:cNvPr id="19" name="limitations-panel">
            <a:extLst>
              <a:ext uri="{FF2B5EF4-FFF2-40B4-BE49-F238E27FC236}">
                <a16:creationId xmlns:a16="http://schemas.microsoft.com/office/drawing/2014/main" id="{1796D312-445D-45A9-8CD5-5A53A6C3D847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581025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4288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limitations-head">
            <a:extLst>
              <a:ext uri="{FF2B5EF4-FFF2-40B4-BE49-F238E27FC236}">
                <a16:creationId xmlns:a16="http://schemas.microsoft.com/office/drawing/2014/main" id="{667A2482-AC44-4233-B6DD-4563083FF0F6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5810250" cy="590550"/>
          </a:xfrm>
          <a:prstGeom prst="roundRect">
            <a:avLst>
              <a:gd name="adj" fmla="val 12903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1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210300" y="1952625"/>
            <a:ext cx="266700" cy="266700"/>
          </a:xfrm>
          <a:prstGeom prst="rect">
            <a:avLst/>
          </a:prstGeom>
        </p:spPr>
      </p:pic>
      <p:sp>
        <p:nvSpPr>
          <p:cNvPr id="22" name="limitations-head-text">
            <a:extLst>
              <a:ext uri="{FF2B5EF4-FFF2-40B4-BE49-F238E27FC236}">
                <a16:creationId xmlns:a16="http://schemas.microsoft.com/office/drawing/2014/main" id="{69867F85-A452-4411-BC36-DDDD4EF4A0A6}"/>
              </a:ext>
            </a:extLst>
          </p:cNvPr>
          <p:cNvSpPr>
            <a:spLocks noGrp="1"/>
          </p:cNvSpPr>
          <p:nvPr/>
        </p:nvSpPr>
        <p:spPr>
          <a:xfrm>
            <a:off x="6610350" y="1914525"/>
            <a:ext cx="4667250" cy="3238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 QUE TODAVÍA NO CAPTURA</a:t>
            </a:r>
          </a:p>
        </p:txBody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229350" y="2562225"/>
            <a:ext cx="209550" cy="209550"/>
          </a:xfrm>
          <a:prstGeom prst="rect">
            <a:avLst/>
          </a:prstGeom>
        </p:spPr>
      </p:pic>
      <p:sp>
        <p:nvSpPr>
          <p:cNvPr id="24" name="limitation-1-text">
            <a:extLst>
              <a:ext uri="{FF2B5EF4-FFF2-40B4-BE49-F238E27FC236}">
                <a16:creationId xmlns:a16="http://schemas.microsoft.com/office/drawing/2014/main" id="{3FD50C92-D924-40F0-946F-9B69A640A3ED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4800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En 2026, el modelo fue menos preciso que el método utilizado por la empresa.</a:t>
            </a:r>
          </a:p>
        </p:txBody>
      </p:sp>
      <p:pic>
        <p:nvPicPr>
          <p:cNvPr id="25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229350" y="3076575"/>
            <a:ext cx="209550" cy="209550"/>
          </a:xfrm>
          <a:prstGeom prst="rect">
            <a:avLst/>
          </a:prstGeom>
        </p:spPr>
      </p:pic>
      <p:sp>
        <p:nvSpPr>
          <p:cNvPr id="26" name="limitation-2-text">
            <a:extLst>
              <a:ext uri="{FF2B5EF4-FFF2-40B4-BE49-F238E27FC236}">
                <a16:creationId xmlns:a16="http://schemas.microsoft.com/office/drawing/2014/main" id="{35FFF0FA-150C-42CC-BBAD-DF1DDAD91DD7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800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La agregación mensual elimina información diaria y horaria relevante.</a:t>
            </a:r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229350" y="3590925"/>
            <a:ext cx="209550" cy="209550"/>
          </a:xfrm>
          <a:prstGeom prst="rect">
            <a:avLst/>
          </a:prstGeom>
        </p:spPr>
      </p:pic>
      <p:sp>
        <p:nvSpPr>
          <p:cNvPr id="28" name="limitation-3-text">
            <a:extLst>
              <a:ext uri="{FF2B5EF4-FFF2-40B4-BE49-F238E27FC236}">
                <a16:creationId xmlns:a16="http://schemas.microsoft.com/office/drawing/2014/main" id="{20B89790-C6A9-4B57-9176-6DB355900CBC}"/>
              </a:ext>
            </a:extLst>
          </p:cNvPr>
          <p:cNvSpPr>
            <a:spLocks noGrp="1"/>
          </p:cNvSpPr>
          <p:nvPr/>
        </p:nvSpPr>
        <p:spPr>
          <a:xfrm>
            <a:off x="6572250" y="3543300"/>
            <a:ext cx="4800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El análisis se limita a clientes residenciales T1.</a:t>
            </a:r>
          </a:p>
        </p:txBody>
      </p:sp>
      <p:pic>
        <p:nvPicPr>
          <p:cNvPr id="29" name="Graphic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229350" y="4105275"/>
            <a:ext cx="209550" cy="209550"/>
          </a:xfrm>
          <a:prstGeom prst="rect">
            <a:avLst/>
          </a:prstGeom>
        </p:spPr>
      </p:pic>
      <p:sp>
        <p:nvSpPr>
          <p:cNvPr id="30" name="limitation-4-text">
            <a:extLst>
              <a:ext uri="{FF2B5EF4-FFF2-40B4-BE49-F238E27FC236}">
                <a16:creationId xmlns:a16="http://schemas.microsoft.com/office/drawing/2014/main" id="{A94B0461-8A8D-48BD-82F0-95F7D0933CB6}"/>
              </a:ext>
            </a:extLst>
          </p:cNvPr>
          <p:cNvSpPr>
            <a:spLocks noGrp="1"/>
          </p:cNvSpPr>
          <p:nvPr/>
        </p:nvSpPr>
        <p:spPr>
          <a:xfrm>
            <a:off x="6572250" y="4057650"/>
            <a:ext cx="4800600" cy="381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La validación cubre un período reducido: enero–abril de 2026.</a:t>
            </a:r>
          </a:p>
        </p:txBody>
      </p:sp>
      <p:sp>
        <p:nvSpPr>
          <p:cNvPr id="31" name="missing-vars">
            <a:extLst>
              <a:ext uri="{FF2B5EF4-FFF2-40B4-BE49-F238E27FC236}">
                <a16:creationId xmlns:a16="http://schemas.microsoft.com/office/drawing/2014/main" id="{E9FE06A1-58CC-4459-809F-B1322901EAF1}"/>
              </a:ext>
            </a:extLst>
          </p:cNvPr>
          <p:cNvSpPr>
            <a:spLocks noGrp="1"/>
          </p:cNvSpPr>
          <p:nvPr/>
        </p:nvSpPr>
        <p:spPr>
          <a:xfrm>
            <a:off x="6229350" y="4629150"/>
            <a:ext cx="5314950" cy="590550"/>
          </a:xfrm>
          <a:prstGeom prst="roundRect">
            <a:avLst>
              <a:gd name="adj" fmla="val 12903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2" name="Graphic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6419850" y="4800600"/>
            <a:ext cx="228600" cy="228600"/>
          </a:xfrm>
          <a:prstGeom prst="rect">
            <a:avLst/>
          </a:prstGeom>
        </p:spPr>
      </p:pic>
      <p:sp>
        <p:nvSpPr>
          <p:cNvPr id="33" name="missing-vars-text">
            <a:extLst>
              <a:ext uri="{FF2B5EF4-FFF2-40B4-BE49-F238E27FC236}">
                <a16:creationId xmlns:a16="http://schemas.microsoft.com/office/drawing/2014/main" id="{223E2DC1-D34B-4FC2-97D1-B3F3DA71E761}"/>
              </a:ext>
            </a:extLst>
          </p:cNvPr>
          <p:cNvSpPr>
            <a:spLocks noGrp="1"/>
          </p:cNvSpPr>
          <p:nvPr/>
        </p:nvSpPr>
        <p:spPr>
          <a:xfrm>
            <a:off x="6781800" y="4695825"/>
            <a:ext cx="4552950" cy="45720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Variables no incorporadas: calendario avanzado, rezagos, factores socioeconómicos y eventos extraordinarios.</a:t>
            </a:r>
          </a:p>
        </p:txBody>
      </p:sp>
      <p:sp>
        <p:nvSpPr>
          <p:cNvPr id="34" name="key-message">
            <a:extLst>
              <a:ext uri="{FF2B5EF4-FFF2-40B4-BE49-F238E27FC236}">
                <a16:creationId xmlns:a16="http://schemas.microsoft.com/office/drawing/2014/main" id="{3130080B-FDB5-42EB-B422-9E2F30D75104}"/>
              </a:ext>
            </a:extLst>
          </p:cNvPr>
          <p:cNvSpPr>
            <a:spLocks noGrp="1"/>
          </p:cNvSpPr>
          <p:nvPr/>
        </p:nvSpPr>
        <p:spPr>
          <a:xfrm>
            <a:off x="400050" y="5638800"/>
            <a:ext cx="11391900" cy="533400"/>
          </a:xfrm>
          <a:prstGeom prst="roundRect">
            <a:avLst>
              <a:gd name="adj" fmla="val 14286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5" name="Graphic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647700" y="5781675"/>
            <a:ext cx="247650" cy="247650"/>
          </a:xfrm>
          <a:prstGeom prst="rect">
            <a:avLst/>
          </a:prstGeom>
        </p:spPr>
      </p:pic>
      <p:sp>
        <p:nvSpPr>
          <p:cNvPr id="36" name="key-message-text">
            <a:extLst>
              <a:ext uri="{FF2B5EF4-FFF2-40B4-BE49-F238E27FC236}">
                <a16:creationId xmlns:a16="http://schemas.microsoft.com/office/drawing/2014/main" id="{77F637D3-7839-4A8F-8173-3F2AF531D0EB}"/>
              </a:ext>
            </a:extLst>
          </p:cNvPr>
          <p:cNvSpPr>
            <a:spLocks noGrp="1"/>
          </p:cNvSpPr>
          <p:nvPr/>
        </p:nvSpPr>
        <p:spPr>
          <a:xfrm>
            <a:off x="1066800" y="5715000"/>
            <a:ext cx="10363200" cy="3810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Conclusión: HDD y CDD son una base explicativa sólida, pero deben complementarse para mejorar la predicción futura.</a:t>
            </a:r>
          </a:p>
        </p:txBody>
      </p:sp>
      <p:sp>
        <p:nvSpPr>
          <p:cNvPr id="37" name="footer-rule">
            <a:extLst>
              <a:ext uri="{FF2B5EF4-FFF2-40B4-BE49-F238E27FC236}">
                <a16:creationId xmlns:a16="http://schemas.microsoft.com/office/drawing/2014/main" id="{B2060830-A8A7-40F4-AD4C-F10BE06504A9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8" name="footer-message">
            <a:extLst>
              <a:ext uri="{FF2B5EF4-FFF2-40B4-BE49-F238E27FC236}">
                <a16:creationId xmlns:a16="http://schemas.microsoft.com/office/drawing/2014/main" id="{9B961845-7FEC-40A9-9A97-AC212B99008C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9906000" cy="2095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Explicar el pasado y anticipar el futuro son desafíos distintos.</a:t>
            </a:r>
          </a:p>
        </p:txBody>
      </p:sp>
      <p:sp>
        <p:nvSpPr>
          <p:cNvPr id="39" name="page-number">
            <a:extLst>
              <a:ext uri="{FF2B5EF4-FFF2-40B4-BE49-F238E27FC236}">
                <a16:creationId xmlns:a16="http://schemas.microsoft.com/office/drawing/2014/main" id="{7A6A83F1-258F-4471-A78B-A719633D4508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742950" cy="2095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2072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ackground">
            <a:extLst>
              <a:ext uri="{FF2B5EF4-FFF2-40B4-BE49-F238E27FC236}">
                <a16:creationId xmlns:a16="http://schemas.microsoft.com/office/drawing/2014/main" id="{00D3C486-8A3B-452E-9A9D-90D59A6942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30C9E57F-827C-4DCC-A9AA-A647003D12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78B5"/>
          </a:solidFill>
          <a:ln w="0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9FE04B2A-B899-4296-86F2-3A72722103AA}"/>
              </a:ext>
            </a:extLst>
          </p:cNvPr>
          <p:cNvSpPr>
            <a:spLocks noGrp="1"/>
          </p:cNvSpPr>
          <p:nvPr/>
        </p:nvSpPr>
        <p:spPr>
          <a:xfrm>
            <a:off x="400050" y="466725"/>
            <a:ext cx="95250" cy="95250"/>
          </a:xfrm>
          <a:prstGeom prst="ellipse">
            <a:avLst/>
          </a:prstGeom>
          <a:solidFill>
            <a:srgbClr val="E59A2F"/>
          </a:solidFill>
          <a:ln w="0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26C2B2A-82F8-424A-98B3-3DF0D433A63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34290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PRÓXIMOS PASOS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2018B10-FBCB-42BE-8C94-F62B4C9A0F6E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477500" cy="5524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Hacia un modelo predictivo operativo más robusto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534983B-AAF2-40E3-9B32-F89C44320425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8953500" cy="26670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evolución propuesta combina información térmica, temporal y de demanda.</a:t>
            </a:r>
          </a:p>
        </p:txBody>
      </p:sp>
      <p:sp>
        <p:nvSpPr>
          <p:cNvPr id="7" name="roadmap-bg">
            <a:extLst>
              <a:ext uri="{FF2B5EF4-FFF2-40B4-BE49-F238E27FC236}">
                <a16:creationId xmlns:a16="http://schemas.microsoft.com/office/drawing/2014/main" id="{709DB503-3F7F-4508-8ABA-9CC4F4BD7E33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11391900" cy="1581150"/>
          </a:xfrm>
          <a:prstGeom prst="roundRect">
            <a:avLst>
              <a:gd name="adj" fmla="val 4819"/>
            </a:avLst>
          </a:prstGeom>
          <a:solidFill>
            <a:srgbClr val="EAF4FA"/>
          </a:solidFill>
          <a:ln w="0">
            <a:solidFill>
              <a:srgbClr val="EAF4FA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roadmap-label">
            <a:extLst>
              <a:ext uri="{FF2B5EF4-FFF2-40B4-BE49-F238E27FC236}">
                <a16:creationId xmlns:a16="http://schemas.microsoft.com/office/drawing/2014/main" id="{BA926DA5-A439-4C5E-9326-3D1575AEE382}"/>
              </a:ext>
            </a:extLst>
          </p:cNvPr>
          <p:cNvSpPr>
            <a:spLocks noGrp="1"/>
          </p:cNvSpPr>
          <p:nvPr/>
        </p:nvSpPr>
        <p:spPr>
          <a:xfrm>
            <a:off x="590550" y="1847850"/>
            <a:ext cx="2381250" cy="209550"/>
          </a:xfrm>
          <a:prstGeom prst="rect">
            <a:avLst/>
          </a:prstGeom>
          <a:ln w="0">
            <a:solidFill>
              <a:srgbClr val="EAF4FA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ROADMAP DE EVOLUCIÓN</a:t>
            </a:r>
          </a:p>
        </p:txBody>
      </p:sp>
      <p:sp>
        <p:nvSpPr>
          <p:cNvPr id="9" name="stage-1">
            <a:extLst>
              <a:ext uri="{FF2B5EF4-FFF2-40B4-BE49-F238E27FC236}">
                <a16:creationId xmlns:a16="http://schemas.microsoft.com/office/drawing/2014/main" id="{B7360009-7518-4860-98CF-EF9BDE300F3B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2857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2878B5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8200" y="2381250"/>
            <a:ext cx="285750" cy="285750"/>
          </a:xfrm>
          <a:prstGeom prst="rect">
            <a:avLst/>
          </a:prstGeom>
        </p:spPr>
      </p:pic>
      <p:sp>
        <p:nvSpPr>
          <p:cNvPr id="11" name="stage-1-label">
            <a:extLst>
              <a:ext uri="{FF2B5EF4-FFF2-40B4-BE49-F238E27FC236}">
                <a16:creationId xmlns:a16="http://schemas.microsoft.com/office/drawing/2014/main" id="{D00EA01E-D8FC-4E4C-AB47-4DE57B31A657}"/>
              </a:ext>
            </a:extLst>
          </p:cNvPr>
          <p:cNvSpPr>
            <a:spLocks noGrp="1"/>
          </p:cNvSpPr>
          <p:nvPr/>
        </p:nvSpPr>
        <p:spPr>
          <a:xfrm>
            <a:off x="1257300" y="2266950"/>
            <a:ext cx="190500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ETAPA 1</a:t>
            </a:r>
          </a:p>
        </p:txBody>
      </p:sp>
      <p:sp>
        <p:nvSpPr>
          <p:cNvPr id="12" name="stage-1-title">
            <a:extLst>
              <a:ext uri="{FF2B5EF4-FFF2-40B4-BE49-F238E27FC236}">
                <a16:creationId xmlns:a16="http://schemas.microsoft.com/office/drawing/2014/main" id="{25879CA9-4382-41DE-AB10-CFD5EDFC4E70}"/>
              </a:ext>
            </a:extLst>
          </p:cNvPr>
          <p:cNvSpPr>
            <a:spLocks noGrp="1"/>
          </p:cNvSpPr>
          <p:nvPr/>
        </p:nvSpPr>
        <p:spPr>
          <a:xfrm>
            <a:off x="1257300" y="2476500"/>
            <a:ext cx="2000250" cy="2667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Modelo térmico actual</a:t>
            </a:r>
          </a:p>
        </p:txBody>
      </p:sp>
      <p:sp>
        <p:nvSpPr>
          <p:cNvPr id="13" name="stage-1-detail">
            <a:extLst>
              <a:ext uri="{FF2B5EF4-FFF2-40B4-BE49-F238E27FC236}">
                <a16:creationId xmlns:a16="http://schemas.microsoft.com/office/drawing/2014/main" id="{1D8FDDA7-8C92-4D22-8A43-A64DE4C1E285}"/>
              </a:ext>
            </a:extLst>
          </p:cNvPr>
          <p:cNvSpPr>
            <a:spLocks noGrp="1"/>
          </p:cNvSpPr>
          <p:nvPr/>
        </p:nvSpPr>
        <p:spPr>
          <a:xfrm>
            <a:off x="1257300" y="2743200"/>
            <a:ext cx="1905000" cy="190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HDD + CDD</a:t>
            </a:r>
          </a:p>
        </p:txBody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38550" y="2457450"/>
            <a:ext cx="361950" cy="361950"/>
          </a:xfrm>
          <a:prstGeom prst="rect">
            <a:avLst/>
          </a:prstGeom>
        </p:spPr>
      </p:pic>
      <p:sp>
        <p:nvSpPr>
          <p:cNvPr id="15" name="stage-2">
            <a:extLst>
              <a:ext uri="{FF2B5EF4-FFF2-40B4-BE49-F238E27FC236}">
                <a16:creationId xmlns:a16="http://schemas.microsoft.com/office/drawing/2014/main" id="{B4C2988C-1655-46A1-85BC-565D658D220B}"/>
              </a:ext>
            </a:extLst>
          </p:cNvPr>
          <p:cNvSpPr>
            <a:spLocks noGrp="1"/>
          </p:cNvSpPr>
          <p:nvPr/>
        </p:nvSpPr>
        <p:spPr>
          <a:xfrm>
            <a:off x="4152900" y="2076450"/>
            <a:ext cx="36766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3813">
            <a:solidFill>
              <a:srgbClr val="E59A2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362450" y="2419350"/>
            <a:ext cx="295275" cy="295275"/>
          </a:xfrm>
          <a:prstGeom prst="rect">
            <a:avLst/>
          </a:prstGeom>
        </p:spPr>
      </p:pic>
      <p:sp>
        <p:nvSpPr>
          <p:cNvPr id="17" name="stage-2-label">
            <a:extLst>
              <a:ext uri="{FF2B5EF4-FFF2-40B4-BE49-F238E27FC236}">
                <a16:creationId xmlns:a16="http://schemas.microsoft.com/office/drawing/2014/main" id="{8AB73E6C-DC9A-441F-B2F3-AE8BA4DF6943}"/>
              </a:ext>
            </a:extLst>
          </p:cNvPr>
          <p:cNvSpPr>
            <a:spLocks noGrp="1"/>
          </p:cNvSpPr>
          <p:nvPr/>
        </p:nvSpPr>
        <p:spPr>
          <a:xfrm>
            <a:off x="4800600" y="2190750"/>
            <a:ext cx="2381250" cy="2095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59A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59A2F"/>
                </a:solidFill>
                <a:latin typeface="Aptos"/>
                <a:ea typeface="Aptos"/>
                <a:cs typeface="Aptos"/>
              </a:rPr>
              <a:t>ETAPA 2</a:t>
            </a:r>
          </a:p>
        </p:txBody>
      </p:sp>
      <p:sp>
        <p:nvSpPr>
          <p:cNvPr id="18" name="stage-2-title">
            <a:extLst>
              <a:ext uri="{FF2B5EF4-FFF2-40B4-BE49-F238E27FC236}">
                <a16:creationId xmlns:a16="http://schemas.microsoft.com/office/drawing/2014/main" id="{933029FE-806F-483E-9A0B-04E60C0FE8F1}"/>
              </a:ext>
            </a:extLst>
          </p:cNvPr>
          <p:cNvSpPr>
            <a:spLocks noGrp="1"/>
          </p:cNvSpPr>
          <p:nvPr/>
        </p:nvSpPr>
        <p:spPr>
          <a:xfrm>
            <a:off x="4800600" y="2409825"/>
            <a:ext cx="2476500" cy="2667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Modelo híbrido</a:t>
            </a:r>
          </a:p>
        </p:txBody>
      </p:sp>
      <p:sp>
        <p:nvSpPr>
          <p:cNvPr id="19" name="stage-2-detail">
            <a:extLst>
              <a:ext uri="{FF2B5EF4-FFF2-40B4-BE49-F238E27FC236}">
                <a16:creationId xmlns:a16="http://schemas.microsoft.com/office/drawing/2014/main" id="{BD4E0E9D-FA5F-411E-876A-F2E55877BF6C}"/>
              </a:ext>
            </a:extLst>
          </p:cNvPr>
          <p:cNvSpPr>
            <a:spLocks noGrp="1"/>
          </p:cNvSpPr>
          <p:nvPr/>
        </p:nvSpPr>
        <p:spPr>
          <a:xfrm>
            <a:off x="4800600" y="2686050"/>
            <a:ext cx="268605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HDD/CDD + calendario +</a:t>
            </a:r>
          </a:p>
          <a:p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demanda histórica</a:t>
            </a:r>
          </a:p>
        </p:txBody>
      </p:sp>
      <p:pic>
        <p:nvPicPr>
          <p:cNvPr id="20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01000" y="2457450"/>
            <a:ext cx="361950" cy="361950"/>
          </a:xfrm>
          <a:prstGeom prst="rect">
            <a:avLst/>
          </a:prstGeom>
        </p:spPr>
      </p:pic>
      <p:sp>
        <p:nvSpPr>
          <p:cNvPr id="21" name="stage-3">
            <a:extLst>
              <a:ext uri="{FF2B5EF4-FFF2-40B4-BE49-F238E27FC236}">
                <a16:creationId xmlns:a16="http://schemas.microsoft.com/office/drawing/2014/main" id="{2EAE8AC9-2BDA-40C8-AAED-68E400B04D2B}"/>
              </a:ext>
            </a:extLst>
          </p:cNvPr>
          <p:cNvSpPr>
            <a:spLocks noGrp="1"/>
          </p:cNvSpPr>
          <p:nvPr/>
        </p:nvSpPr>
        <p:spPr>
          <a:xfrm>
            <a:off x="8515350" y="2171700"/>
            <a:ext cx="3048000" cy="914400"/>
          </a:xfrm>
          <a:prstGeom prst="roundRect">
            <a:avLst>
              <a:gd name="adj" fmla="val 8333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724900" y="2381250"/>
            <a:ext cx="285750" cy="285750"/>
          </a:xfrm>
          <a:prstGeom prst="rect">
            <a:avLst/>
          </a:prstGeom>
        </p:spPr>
      </p:pic>
      <p:sp>
        <p:nvSpPr>
          <p:cNvPr id="23" name="stage-3-label">
            <a:extLst>
              <a:ext uri="{FF2B5EF4-FFF2-40B4-BE49-F238E27FC236}">
                <a16:creationId xmlns:a16="http://schemas.microsoft.com/office/drawing/2014/main" id="{684CAA1B-AC12-476C-BD4B-FE08D2058205}"/>
              </a:ext>
            </a:extLst>
          </p:cNvPr>
          <p:cNvSpPr>
            <a:spLocks noGrp="1"/>
          </p:cNvSpPr>
          <p:nvPr/>
        </p:nvSpPr>
        <p:spPr>
          <a:xfrm>
            <a:off x="9144000" y="2266950"/>
            <a:ext cx="2000250" cy="20955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59A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59A2F"/>
                </a:solidFill>
                <a:latin typeface="Aptos"/>
                <a:ea typeface="Aptos"/>
                <a:cs typeface="Aptos"/>
              </a:rPr>
              <a:t>ETAPA 3</a:t>
            </a:r>
          </a:p>
        </p:txBody>
      </p:sp>
      <p:sp>
        <p:nvSpPr>
          <p:cNvPr id="24" name="stage-3-title">
            <a:extLst>
              <a:ext uri="{FF2B5EF4-FFF2-40B4-BE49-F238E27FC236}">
                <a16:creationId xmlns:a16="http://schemas.microsoft.com/office/drawing/2014/main" id="{ADE7B032-DBB2-4B88-A610-D6D8CF298B01}"/>
              </a:ext>
            </a:extLst>
          </p:cNvPr>
          <p:cNvSpPr>
            <a:spLocks noGrp="1"/>
          </p:cNvSpPr>
          <p:nvPr/>
        </p:nvSpPr>
        <p:spPr>
          <a:xfrm>
            <a:off x="9144000" y="2476500"/>
            <a:ext cx="2095500" cy="36195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Validación extendida</a:t>
            </a:r>
          </a:p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 uso operativo</a:t>
            </a:r>
          </a:p>
        </p:txBody>
      </p:sp>
      <p:sp>
        <p:nvSpPr>
          <p:cNvPr id="25" name="actions-label">
            <a:extLst>
              <a:ext uri="{FF2B5EF4-FFF2-40B4-BE49-F238E27FC236}">
                <a16:creationId xmlns:a16="http://schemas.microsoft.com/office/drawing/2014/main" id="{71BD9207-DEB0-4771-9E70-64E4CE4A54A9}"/>
              </a:ext>
            </a:extLst>
          </p:cNvPr>
          <p:cNvSpPr>
            <a:spLocks noGrp="1"/>
          </p:cNvSpPr>
          <p:nvPr/>
        </p:nvSpPr>
        <p:spPr>
          <a:xfrm>
            <a:off x="400050" y="3476625"/>
            <a:ext cx="2286000" cy="2095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LÍNEAS DE MEJORA</a:t>
            </a:r>
          </a:p>
        </p:txBody>
      </p:sp>
      <p:sp>
        <p:nvSpPr>
          <p:cNvPr id="26" name="action-1-box">
            <a:extLst>
              <a:ext uri="{FF2B5EF4-FFF2-40B4-BE49-F238E27FC236}">
                <a16:creationId xmlns:a16="http://schemas.microsoft.com/office/drawing/2014/main" id="{F6E58936-F098-4910-8F10-661D8E504F5D}"/>
              </a:ext>
            </a:extLst>
          </p:cNvPr>
          <p:cNvSpPr>
            <a:spLocks noGrp="1"/>
          </p:cNvSpPr>
          <p:nvPr/>
        </p:nvSpPr>
        <p:spPr>
          <a:xfrm>
            <a:off x="400050" y="3733800"/>
            <a:ext cx="3543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33400" y="3838575"/>
            <a:ext cx="209550" cy="209550"/>
          </a:xfrm>
          <a:prstGeom prst="rect">
            <a:avLst/>
          </a:prstGeom>
        </p:spPr>
      </p:pic>
      <p:sp>
        <p:nvSpPr>
          <p:cNvPr id="28" name="action-1-text">
            <a:extLst>
              <a:ext uri="{FF2B5EF4-FFF2-40B4-BE49-F238E27FC236}">
                <a16:creationId xmlns:a16="http://schemas.microsoft.com/office/drawing/2014/main" id="{C0CA0386-B175-4AFF-977C-BC178585B662}"/>
              </a:ext>
            </a:extLst>
          </p:cNvPr>
          <p:cNvSpPr>
            <a:spLocks noGrp="1"/>
          </p:cNvSpPr>
          <p:nvPr/>
        </p:nvSpPr>
        <p:spPr>
          <a:xfrm>
            <a:off x="857250" y="3781425"/>
            <a:ext cx="29718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Incorporar calendario y rezagos de consumo.</a:t>
            </a:r>
          </a:p>
        </p:txBody>
      </p:sp>
      <p:sp>
        <p:nvSpPr>
          <p:cNvPr id="29" name="action-2-box">
            <a:extLst>
              <a:ext uri="{FF2B5EF4-FFF2-40B4-BE49-F238E27FC236}">
                <a16:creationId xmlns:a16="http://schemas.microsoft.com/office/drawing/2014/main" id="{8D7400B4-BAD4-491B-8F5E-67FB2AADB07B}"/>
              </a:ext>
            </a:extLst>
          </p:cNvPr>
          <p:cNvSpPr>
            <a:spLocks noGrp="1"/>
          </p:cNvSpPr>
          <p:nvPr/>
        </p:nvSpPr>
        <p:spPr>
          <a:xfrm>
            <a:off x="4133850" y="3733800"/>
            <a:ext cx="3543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0" name="Graphic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267200" y="3838575"/>
            <a:ext cx="209550" cy="209550"/>
          </a:xfrm>
          <a:prstGeom prst="rect">
            <a:avLst/>
          </a:prstGeom>
        </p:spPr>
      </p:pic>
      <p:sp>
        <p:nvSpPr>
          <p:cNvPr id="31" name="action-2-text">
            <a:extLst>
              <a:ext uri="{FF2B5EF4-FFF2-40B4-BE49-F238E27FC236}">
                <a16:creationId xmlns:a16="http://schemas.microsoft.com/office/drawing/2014/main" id="{9B31AC02-84A6-44A3-BD5F-74B27EF4999D}"/>
              </a:ext>
            </a:extLst>
          </p:cNvPr>
          <p:cNvSpPr>
            <a:spLocks noGrp="1"/>
          </p:cNvSpPr>
          <p:nvPr/>
        </p:nvSpPr>
        <p:spPr>
          <a:xfrm>
            <a:off x="4591050" y="3781425"/>
            <a:ext cx="29718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Combinar clima, demanda histórica y estacionalidad.</a:t>
            </a:r>
          </a:p>
        </p:txBody>
      </p:sp>
      <p:sp>
        <p:nvSpPr>
          <p:cNvPr id="32" name="action-3-box">
            <a:extLst>
              <a:ext uri="{FF2B5EF4-FFF2-40B4-BE49-F238E27FC236}">
                <a16:creationId xmlns:a16="http://schemas.microsoft.com/office/drawing/2014/main" id="{557B5E46-2915-45F4-BB3A-D6EC5642EAFB}"/>
              </a:ext>
            </a:extLst>
          </p:cNvPr>
          <p:cNvSpPr>
            <a:spLocks noGrp="1"/>
          </p:cNvSpPr>
          <p:nvPr/>
        </p:nvSpPr>
        <p:spPr>
          <a:xfrm>
            <a:off x="7867650" y="3733800"/>
            <a:ext cx="3924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3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01000" y="3838575"/>
            <a:ext cx="209550" cy="209550"/>
          </a:xfrm>
          <a:prstGeom prst="rect">
            <a:avLst/>
          </a:prstGeom>
        </p:spPr>
      </p:pic>
      <p:sp>
        <p:nvSpPr>
          <p:cNvPr id="34" name="action-3-text">
            <a:extLst>
              <a:ext uri="{FF2B5EF4-FFF2-40B4-BE49-F238E27FC236}">
                <a16:creationId xmlns:a16="http://schemas.microsoft.com/office/drawing/2014/main" id="{EAAF9E7A-B486-4936-ACEF-4D31AEF6741A}"/>
              </a:ext>
            </a:extLst>
          </p:cNvPr>
          <p:cNvSpPr>
            <a:spLocks noGrp="1"/>
          </p:cNvSpPr>
          <p:nvPr/>
        </p:nvSpPr>
        <p:spPr>
          <a:xfrm>
            <a:off x="8324850" y="3781425"/>
            <a:ext cx="33528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Validar utilizando más meses de 2026.</a:t>
            </a:r>
          </a:p>
        </p:txBody>
      </p:sp>
      <p:sp>
        <p:nvSpPr>
          <p:cNvPr id="35" name="action-4-box">
            <a:extLst>
              <a:ext uri="{FF2B5EF4-FFF2-40B4-BE49-F238E27FC236}">
                <a16:creationId xmlns:a16="http://schemas.microsoft.com/office/drawing/2014/main" id="{013C9271-F494-408B-84E1-02AE8AC25BFB}"/>
              </a:ext>
            </a:extLst>
          </p:cNvPr>
          <p:cNvSpPr>
            <a:spLocks noGrp="1"/>
          </p:cNvSpPr>
          <p:nvPr/>
        </p:nvSpPr>
        <p:spPr>
          <a:xfrm>
            <a:off x="2266950" y="4248150"/>
            <a:ext cx="3733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2400300" y="4352925"/>
            <a:ext cx="209550" cy="209550"/>
          </a:xfrm>
          <a:prstGeom prst="rect">
            <a:avLst/>
          </a:prstGeom>
        </p:spPr>
      </p:pic>
      <p:sp>
        <p:nvSpPr>
          <p:cNvPr id="37" name="action-4-text">
            <a:extLst>
              <a:ext uri="{FF2B5EF4-FFF2-40B4-BE49-F238E27FC236}">
                <a16:creationId xmlns:a16="http://schemas.microsoft.com/office/drawing/2014/main" id="{FDE9F1F4-9D48-43B9-9BBD-9998370E615B}"/>
              </a:ext>
            </a:extLst>
          </p:cNvPr>
          <p:cNvSpPr>
            <a:spLocks noGrp="1"/>
          </p:cNvSpPr>
          <p:nvPr/>
        </p:nvSpPr>
        <p:spPr>
          <a:xfrm>
            <a:off x="2724150" y="4295775"/>
            <a:ext cx="31623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Construir modelos por segmento de clientes.</a:t>
            </a:r>
          </a:p>
        </p:txBody>
      </p:sp>
      <p:sp>
        <p:nvSpPr>
          <p:cNvPr id="38" name="action-5-box">
            <a:extLst>
              <a:ext uri="{FF2B5EF4-FFF2-40B4-BE49-F238E27FC236}">
                <a16:creationId xmlns:a16="http://schemas.microsoft.com/office/drawing/2014/main" id="{A8E82FEE-8E82-421B-9859-F04D312A3FAA}"/>
              </a:ext>
            </a:extLst>
          </p:cNvPr>
          <p:cNvSpPr>
            <a:spLocks noGrp="1"/>
          </p:cNvSpPr>
          <p:nvPr/>
        </p:nvSpPr>
        <p:spPr>
          <a:xfrm>
            <a:off x="6191250" y="4248150"/>
            <a:ext cx="3733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39" name="Graphic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324600" y="4352925"/>
            <a:ext cx="209550" cy="209550"/>
          </a:xfrm>
          <a:prstGeom prst="rect">
            <a:avLst/>
          </a:prstGeom>
        </p:spPr>
      </p:pic>
      <p:sp>
        <p:nvSpPr>
          <p:cNvPr id="40" name="action-5-text">
            <a:extLst>
              <a:ext uri="{FF2B5EF4-FFF2-40B4-BE49-F238E27FC236}">
                <a16:creationId xmlns:a16="http://schemas.microsoft.com/office/drawing/2014/main" id="{A6F52305-2556-49E8-B550-946C536DAA06}"/>
              </a:ext>
            </a:extLst>
          </p:cNvPr>
          <p:cNvSpPr>
            <a:spLocks noGrp="1"/>
          </p:cNvSpPr>
          <p:nvPr/>
        </p:nvSpPr>
        <p:spPr>
          <a:xfrm>
            <a:off x="6648450" y="4295775"/>
            <a:ext cx="31623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Evaluar no linealidad y heterocedasticidad.</a:t>
            </a:r>
          </a:p>
        </p:txBody>
      </p:sp>
      <p:sp>
        <p:nvSpPr>
          <p:cNvPr id="41" name="key-message">
            <a:extLst>
              <a:ext uri="{FF2B5EF4-FFF2-40B4-BE49-F238E27FC236}">
                <a16:creationId xmlns:a16="http://schemas.microsoft.com/office/drawing/2014/main" id="{BD01EF07-EF99-4A5B-A1CB-46271AC1E879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1391900" cy="552450"/>
          </a:xfrm>
          <a:prstGeom prst="roundRect">
            <a:avLst>
              <a:gd name="adj" fmla="val 13793"/>
            </a:avLst>
          </a:prstGeom>
          <a:solidFill>
            <a:srgbClr val="16324F"/>
          </a:solidFill>
          <a:ln w="0">
            <a:solidFill>
              <a:srgbClr val="16324F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42" name="Graphic 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47700" y="5000625"/>
            <a:ext cx="247650" cy="247650"/>
          </a:xfrm>
          <a:prstGeom prst="rect">
            <a:avLst/>
          </a:prstGeom>
        </p:spPr>
      </p:pic>
      <p:sp>
        <p:nvSpPr>
          <p:cNvPr id="43" name="key-message-text">
            <a:extLst>
              <a:ext uri="{FF2B5EF4-FFF2-40B4-BE49-F238E27FC236}">
                <a16:creationId xmlns:a16="http://schemas.microsoft.com/office/drawing/2014/main" id="{65A186D3-DAEF-44D6-B182-F714331B18DC}"/>
              </a:ext>
            </a:extLst>
          </p:cNvPr>
          <p:cNvSpPr>
            <a:spLocks noGrp="1"/>
          </p:cNvSpPr>
          <p:nvPr/>
        </p:nvSpPr>
        <p:spPr>
          <a:xfrm>
            <a:off x="1066800" y="4924425"/>
            <a:ext cx="10382250" cy="419100"/>
          </a:xfrm>
          <a:prstGeom prst="rect">
            <a:avLst/>
          </a:prstGeom>
          <a:ln w="0">
            <a:solidFill>
              <a:srgbClr val="16324F"/>
            </a:solidFill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HDD y CDD constituyen una base sólida para explicar el consumo, pero una predicción operativa robusta requiere integrar información térmica, demanda histórica y comportamiento temporal.</a:t>
            </a:r>
          </a:p>
        </p:txBody>
      </p:sp>
      <p:sp>
        <p:nvSpPr>
          <p:cNvPr id="44" name="closing-message">
            <a:extLst>
              <a:ext uri="{FF2B5EF4-FFF2-40B4-BE49-F238E27FC236}">
                <a16:creationId xmlns:a16="http://schemas.microsoft.com/office/drawing/2014/main" id="{551C0798-27D2-4674-B4D8-907A34B63CCB}"/>
              </a:ext>
            </a:extLst>
          </p:cNvPr>
          <p:cNvSpPr>
            <a:spLocks noGrp="1"/>
          </p:cNvSpPr>
          <p:nvPr/>
        </p:nvSpPr>
        <p:spPr>
          <a:xfrm>
            <a:off x="400050" y="5543550"/>
            <a:ext cx="8763000" cy="552450"/>
          </a:xfrm>
          <a:prstGeom prst="roundRect">
            <a:avLst>
              <a:gd name="adj" fmla="val 13793"/>
            </a:avLst>
          </a:prstGeom>
          <a:solidFill>
            <a:srgbClr val="E8F5EF"/>
          </a:solidFill>
          <a:ln w="10478">
            <a:solidFill>
              <a:srgbClr val="2F8065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45" name="Graphic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628650" y="5695950"/>
            <a:ext cx="247650" cy="247650"/>
          </a:xfrm>
          <a:prstGeom prst="rect">
            <a:avLst/>
          </a:prstGeom>
        </p:spPr>
      </p:pic>
      <p:sp>
        <p:nvSpPr>
          <p:cNvPr id="46" name="closing-text">
            <a:extLst>
              <a:ext uri="{FF2B5EF4-FFF2-40B4-BE49-F238E27FC236}">
                <a16:creationId xmlns:a16="http://schemas.microsoft.com/office/drawing/2014/main" id="{81D33FEE-D468-49EC-90A1-1C238ABAC0D6}"/>
              </a:ext>
            </a:extLst>
          </p:cNvPr>
          <p:cNvSpPr>
            <a:spLocks noGrp="1"/>
          </p:cNvSpPr>
          <p:nvPr/>
        </p:nvSpPr>
        <p:spPr>
          <a:xfrm>
            <a:off x="1028700" y="5610225"/>
            <a:ext cx="7886700" cy="419100"/>
          </a:xfrm>
          <a:prstGeom prst="rect">
            <a:avLst/>
          </a:prstGeom>
          <a:ln w="0">
            <a:solidFill>
              <a:srgbClr val="E8F5EF"/>
            </a:solidFill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El proyecto permitió comprender el impacto de la temperatura sobre el consumo y sentó las bases para modelos predictivos más completos.</a:t>
            </a:r>
          </a:p>
        </p:txBody>
      </p:sp>
      <p:sp>
        <p:nvSpPr>
          <p:cNvPr id="47" name="thanks-box">
            <a:extLst>
              <a:ext uri="{FF2B5EF4-FFF2-40B4-BE49-F238E27FC236}">
                <a16:creationId xmlns:a16="http://schemas.microsoft.com/office/drawing/2014/main" id="{1D3D94BB-9697-4C68-BE31-995DFDD65637}"/>
              </a:ext>
            </a:extLst>
          </p:cNvPr>
          <p:cNvSpPr>
            <a:spLocks noGrp="1"/>
          </p:cNvSpPr>
          <p:nvPr/>
        </p:nvSpPr>
        <p:spPr>
          <a:xfrm>
            <a:off x="9353550" y="5543550"/>
            <a:ext cx="2438400" cy="552450"/>
          </a:xfrm>
          <a:prstGeom prst="roundRect">
            <a:avLst>
              <a:gd name="adj" fmla="val 13793"/>
            </a:avLst>
          </a:prstGeom>
          <a:solidFill>
            <a:srgbClr val="FFF3DC"/>
          </a:solidFill>
          <a:ln w="0">
            <a:solidFill>
              <a:srgbClr val="FFF3D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8" name="thanks-text">
            <a:extLst>
              <a:ext uri="{FF2B5EF4-FFF2-40B4-BE49-F238E27FC236}">
                <a16:creationId xmlns:a16="http://schemas.microsoft.com/office/drawing/2014/main" id="{C0CA98C7-F225-4566-9EBD-06BB9CCE5AE8}"/>
              </a:ext>
            </a:extLst>
          </p:cNvPr>
          <p:cNvSpPr>
            <a:spLocks noGrp="1"/>
          </p:cNvSpPr>
          <p:nvPr/>
        </p:nvSpPr>
        <p:spPr>
          <a:xfrm>
            <a:off x="9544050" y="5638800"/>
            <a:ext cx="2057400" cy="361950"/>
          </a:xfrm>
          <a:prstGeom prst="rect">
            <a:avLst/>
          </a:prstGeom>
          <a:ln w="0">
            <a:solidFill>
              <a:srgbClr val="FFF3DC"/>
            </a:solidFill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6324F"/>
                </a:solidFill>
                <a:latin typeface="Aptos"/>
                <a:ea typeface="Aptos"/>
                <a:cs typeface="Aptos"/>
              </a:rPr>
              <a:t>Gracias </a:t>
            </a:r>
            <a:r>
              <a:rPr sz="1350" b="1" dirty="0" err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por</a:t>
            </a:r>
            <a:r>
              <a:rPr sz="1350" b="1" dirty="0">
                <a:solidFill>
                  <a:srgbClr val="16324F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</a:t>
            </a:r>
            <a:r>
              <a:rPr sz="1350" b="1" dirty="0">
                <a:solidFill>
                  <a:srgbClr val="16324F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atención</a:t>
            </a:r>
            <a:endParaRPr sz="1350" b="1" dirty="0">
              <a:solidFill>
                <a:srgbClr val="1632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footer-rule">
            <a:extLst>
              <a:ext uri="{FF2B5EF4-FFF2-40B4-BE49-F238E27FC236}">
                <a16:creationId xmlns:a16="http://schemas.microsoft.com/office/drawing/2014/main" id="{A40E9C8D-B062-434C-90AE-FF5778178F2F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1391900" cy="9525"/>
          </a:xfrm>
          <a:prstGeom prst="rect">
            <a:avLst/>
          </a:prstGeom>
          <a:solidFill>
            <a:srgbClr val="BDD5E4"/>
          </a:solidFill>
          <a:ln w="0">
            <a:solidFill>
              <a:srgbClr val="BDD5E4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0" name="footer-message">
            <a:extLst>
              <a:ext uri="{FF2B5EF4-FFF2-40B4-BE49-F238E27FC236}">
                <a16:creationId xmlns:a16="http://schemas.microsoft.com/office/drawing/2014/main" id="{E9BDFC6D-1B6F-468B-A2BF-1711814E0431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9906000" cy="2095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Del análisis explicativo a una herramienta predictiva operativa.</a:t>
            </a:r>
          </a:p>
        </p:txBody>
      </p:sp>
      <p:sp>
        <p:nvSpPr>
          <p:cNvPr id="51" name="page-number">
            <a:extLst>
              <a:ext uri="{FF2B5EF4-FFF2-40B4-BE49-F238E27FC236}">
                <a16:creationId xmlns:a16="http://schemas.microsoft.com/office/drawing/2014/main" id="{097E919B-1130-443C-ADFE-D43A78E2830F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742950" cy="209550"/>
          </a:xfrm>
          <a:prstGeom prst="rect">
            <a:avLst/>
          </a:prstGeom>
          <a:ln w="0">
            <a:solidFill>
              <a:srgbClr val="F7FAFC"/>
            </a:solidFill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8832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923</Words>
  <Application>Microsoft Office PowerPoint</Application>
  <DocSecurity>0</DocSecurity>
  <PresentationFormat>Widescreen</PresentationFormat>
  <Paragraphs>183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Yanina Noemi Colangelo</cp:lastModifiedBy>
  <cp:revision>3</cp:revision>
  <dcterms:created xsi:type="dcterms:W3CDTF">2026-06-12T18:19:55Z</dcterms:created>
  <dcterms:modified xsi:type="dcterms:W3CDTF">2026-06-12T19:12:16Z</dcterms:modified>
</cp:coreProperties>
</file>